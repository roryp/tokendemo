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566928" y="4114800"/>
            <a:ext cx="1371600" cy="566928"/>
          </a:xfrm>
          <a:prstGeom prst="roundRect">
            <a:avLst>
              <a:gd name="adj" fmla="val 8065"/>
            </a:avLst>
          </a:prstGeom>
          <a:solidFill>
            <a:srgbClr val="CFE8EA">
              <a:alpha val="75000"/>
            </a:srgbClr>
          </a:solidFill>
          <a:ln/>
        </p:spPr>
      </p:sp>
      <p:sp>
        <p:nvSpPr>
          <p:cNvPr id="3" name="Text 1"/>
          <p:cNvSpPr/>
          <p:nvPr/>
        </p:nvSpPr>
        <p:spPr>
          <a:xfrm>
            <a:off x="566928" y="4114800"/>
            <a:ext cx="1371600" cy="566928"/>
          </a:xfrm>
          <a:prstGeom prst="rect">
            <a:avLst/>
          </a:prstGeom>
          <a:noFill/>
          <a:ln/>
        </p:spPr>
        <p:txBody>
          <a:bodyPr wrap="square" lIns="0" tIns="0" rIns="0" bIns="0" rtlCol="0" anchor="ctr"/>
          <a:lstStyle/>
          <a:p>
            <a:pPr algn="ctr" indent="0" marL="0">
              <a:buNone/>
            </a:pPr>
            <a:r>
              <a:rPr lang="en-US" sz="1000" b="1" dirty="0">
                <a:solidFill>
                  <a:srgbClr val="0B3C49"/>
                </a:solidFill>
                <a:latin typeface="Calibri" pitchFamily="34" charset="0"/>
                <a:ea typeface="Calibri" pitchFamily="34" charset="-122"/>
                <a:cs typeface="Calibri" pitchFamily="34" charset="-120"/>
              </a:rPr>
              <a:t>1 prompt</a:t>
            </a:r>
            <a:endParaRPr lang="en-US" sz="1000" dirty="0"/>
          </a:p>
        </p:txBody>
      </p:sp>
      <p:sp>
        <p:nvSpPr>
          <p:cNvPr id="4" name="Shape 2"/>
          <p:cNvSpPr/>
          <p:nvPr/>
        </p:nvSpPr>
        <p:spPr>
          <a:xfrm>
            <a:off x="2057400" y="4206240"/>
            <a:ext cx="384048" cy="384048"/>
          </a:xfrm>
          <a:prstGeom prst="chevron">
            <a:avLst/>
          </a:prstGeom>
          <a:solidFill>
            <a:srgbClr val="FFFFFF">
              <a:alpha val="70000"/>
            </a:srgbClr>
          </a:solidFill>
          <a:ln/>
        </p:spPr>
      </p:sp>
      <p:sp>
        <p:nvSpPr>
          <p:cNvPr id="5" name="Shape 3"/>
          <p:cNvSpPr/>
          <p:nvPr/>
        </p:nvSpPr>
        <p:spPr>
          <a:xfrm>
            <a:off x="2606040" y="4114800"/>
            <a:ext cx="1554480" cy="566928"/>
          </a:xfrm>
          <a:prstGeom prst="roundRect">
            <a:avLst>
              <a:gd name="adj" fmla="val 8065"/>
            </a:avLst>
          </a:prstGeom>
          <a:solidFill>
            <a:srgbClr val="C0603A"/>
          </a:solidFill>
          <a:ln/>
        </p:spPr>
      </p:sp>
      <p:sp>
        <p:nvSpPr>
          <p:cNvPr id="6" name="Text 4"/>
          <p:cNvSpPr/>
          <p:nvPr/>
        </p:nvSpPr>
        <p:spPr>
          <a:xfrm>
            <a:off x="2606040" y="4114800"/>
            <a:ext cx="155448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caveman = style</a:t>
            </a:r>
            <a:endParaRPr lang="en-US" sz="1000" dirty="0"/>
          </a:p>
        </p:txBody>
      </p:sp>
      <p:sp>
        <p:nvSpPr>
          <p:cNvPr id="7" name="Shape 5"/>
          <p:cNvSpPr/>
          <p:nvPr/>
        </p:nvSpPr>
        <p:spPr>
          <a:xfrm>
            <a:off x="4297680" y="4114800"/>
            <a:ext cx="1737360" cy="566928"/>
          </a:xfrm>
          <a:prstGeom prst="roundRect">
            <a:avLst>
              <a:gd name="adj" fmla="val 8065"/>
            </a:avLst>
          </a:prstGeom>
          <a:solidFill>
            <a:srgbClr val="028090"/>
          </a:solidFill>
          <a:ln/>
        </p:spPr>
      </p:sp>
      <p:sp>
        <p:nvSpPr>
          <p:cNvPr id="8" name="Text 6"/>
          <p:cNvSpPr/>
          <p:nvPr/>
        </p:nvSpPr>
        <p:spPr>
          <a:xfrm>
            <a:off x="4297680" y="4114800"/>
            <a:ext cx="173736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compaction = content</a:t>
            </a:r>
            <a:endParaRPr lang="en-US" sz="1000" dirty="0"/>
          </a:p>
        </p:txBody>
      </p:sp>
      <p:sp>
        <p:nvSpPr>
          <p:cNvPr id="9" name="Text 7"/>
          <p:cNvSpPr/>
          <p:nvPr/>
        </p:nvSpPr>
        <p:spPr>
          <a:xfrm>
            <a:off x="566928" y="960120"/>
            <a:ext cx="8229600" cy="82296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Caveman vs Compaction</a:t>
            </a:r>
            <a:endParaRPr lang="en-US" sz="4400" dirty="0"/>
          </a:p>
        </p:txBody>
      </p:sp>
      <p:sp>
        <p:nvSpPr>
          <p:cNvPr id="10" name="Text 8"/>
          <p:cNvSpPr/>
          <p:nvPr/>
        </p:nvSpPr>
        <p:spPr>
          <a:xfrm>
            <a:off x="594360" y="1810512"/>
            <a:ext cx="8229600" cy="457200"/>
          </a:xfrm>
          <a:prstGeom prst="rect">
            <a:avLst/>
          </a:prstGeom>
          <a:noFill/>
          <a:ln/>
        </p:spPr>
        <p:txBody>
          <a:bodyPr wrap="square" lIns="0" tIns="0" rIns="0" bIns="0" rtlCol="0" anchor="ctr"/>
          <a:lstStyle/>
          <a:p>
            <a:pPr indent="0" marL="0">
              <a:buNone/>
            </a:pPr>
            <a:r>
              <a:rPr lang="en-US" sz="2300" b="1" dirty="0">
                <a:solidFill>
                  <a:srgbClr val="02C39A"/>
                </a:solidFill>
                <a:latin typeface="Trebuchet MS" pitchFamily="34" charset="0"/>
                <a:ea typeface="Trebuchet MS" pitchFamily="34" charset="-122"/>
                <a:cs typeface="Trebuchet MS" pitchFamily="34" charset="-120"/>
              </a:rPr>
              <a:t>Same prompt, two instruction sets</a:t>
            </a:r>
            <a:endParaRPr lang="en-US" sz="2300" dirty="0"/>
          </a:p>
        </p:txBody>
      </p:sp>
      <p:sp>
        <p:nvSpPr>
          <p:cNvPr id="11" name="Text 9"/>
          <p:cNvSpPr/>
          <p:nvPr/>
        </p:nvSpPr>
        <p:spPr>
          <a:xfrm>
            <a:off x="594360" y="2414016"/>
            <a:ext cx="8046720" cy="640080"/>
          </a:xfrm>
          <a:prstGeom prst="rect">
            <a:avLst/>
          </a:prstGeom>
          <a:noFill/>
          <a:ln/>
        </p:spPr>
        <p:txBody>
          <a:bodyPr wrap="square" lIns="0" tIns="0" rIns="0" bIns="0" rtlCol="0" anchor="ctr"/>
          <a:lstStyle/>
          <a:p>
            <a:pPr indent="0" marL="0">
              <a:buNone/>
            </a:pPr>
            <a:r>
              <a:rPr lang="en-US" sz="1500" dirty="0">
                <a:solidFill>
                  <a:srgbClr val="CFE8EA"/>
                </a:solidFill>
                <a:latin typeface="Calibri" pitchFamily="34" charset="0"/>
                <a:ea typeface="Calibri" pitchFamily="34" charset="-122"/>
                <a:cs typeface="Calibri" pitchFamily="34" charset="-120"/>
              </a:rPr>
              <a:t>One body of working notes (275 tokens) sent twice — once with the caveman instructions, once with the compaction instructions. Everything else identical.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8"/>
        </a:solidFill>
      </p:bgPr>
    </p:bg>
    <p:spTree>
      <p:nvGrpSpPr>
        <p:cNvPr id="1" name=""/>
        <p:cNvGrpSpPr/>
        <p:nvPr/>
      </p:nvGrpSpPr>
      <p:grpSpPr>
        <a:xfrm>
          <a:off x="0" y="0"/>
          <a:ext cx="0" cy="0"/>
          <a:chOff x="0" y="0"/>
          <a:chExt cx="0" cy="0"/>
        </a:xfrm>
      </p:grpSpPr>
      <p:sp>
        <p:nvSpPr>
          <p:cNvPr id="2" name="Text 0"/>
          <p:cNvSpPr/>
          <p:nvPr/>
        </p:nvSpPr>
        <p:spPr>
          <a:xfrm>
            <a:off x="548640" y="310896"/>
            <a:ext cx="82296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Trebuchet MS" pitchFamily="34" charset="0"/>
                <a:ea typeface="Trebuchet MS" pitchFamily="34" charset="-122"/>
                <a:cs typeface="Trebuchet MS" pitchFamily="34" charset="-120"/>
              </a:rPr>
              <a:t>THE SETUP</a:t>
            </a:r>
            <a:endParaRPr lang="en-US" sz="1200" dirty="0"/>
          </a:p>
        </p:txBody>
      </p:sp>
      <p:sp>
        <p:nvSpPr>
          <p:cNvPr id="3" name="Text 1"/>
          <p:cNvSpPr/>
          <p:nvPr/>
        </p:nvSpPr>
        <p:spPr>
          <a:xfrm>
            <a:off x="548640" y="566928"/>
            <a:ext cx="8229600" cy="548640"/>
          </a:xfrm>
          <a:prstGeom prst="rect">
            <a:avLst/>
          </a:prstGeom>
          <a:noFill/>
          <a:ln/>
        </p:spPr>
        <p:txBody>
          <a:bodyPr wrap="square" lIns="0" tIns="0" rIns="0" bIns="0" rtlCol="0" anchor="ctr"/>
          <a:lstStyle/>
          <a:p>
            <a:pPr indent="0" marL="0">
              <a:buNone/>
            </a:pPr>
            <a:r>
              <a:rPr lang="en-US" sz="2500" b="1" dirty="0">
                <a:solidFill>
                  <a:srgbClr val="12262B"/>
                </a:solidFill>
                <a:latin typeface="Trebuchet MS" pitchFamily="34" charset="0"/>
                <a:ea typeface="Trebuchet MS" pitchFamily="34" charset="-122"/>
                <a:cs typeface="Trebuchet MS" pitchFamily="34" charset="-120"/>
              </a:rPr>
              <a:t>One input, two instruction sets</a:t>
            </a:r>
            <a:endParaRPr lang="en-US" sz="2500" dirty="0"/>
          </a:p>
        </p:txBody>
      </p:sp>
      <p:sp>
        <p:nvSpPr>
          <p:cNvPr id="4" name="Shape 2"/>
          <p:cNvSpPr/>
          <p:nvPr/>
        </p:nvSpPr>
        <p:spPr>
          <a:xfrm>
            <a:off x="548640" y="1426464"/>
            <a:ext cx="8046720" cy="786384"/>
          </a:xfrm>
          <a:prstGeom prst="roundRect">
            <a:avLst>
              <a:gd name="adj" fmla="val 8140"/>
            </a:avLst>
          </a:prstGeom>
          <a:solidFill>
            <a:srgbClr val="FFFFFF"/>
          </a:solidFill>
          <a:ln w="15875">
            <a:solidFill>
              <a:srgbClr val="028090"/>
            </a:solidFill>
            <a:prstDash val="solid"/>
          </a:ln>
          <a:effectLst>
            <a:outerShdw sx="100000" sy="100000" kx="0" ky="0" algn="bl" rotWithShape="0" blurRad="88900" dist="38100" dir="8100000">
              <a:srgbClr val="000000">
                <a:alpha val="18000"/>
              </a:srgbClr>
            </a:outerShdw>
          </a:effectLst>
        </p:spPr>
      </p:sp>
      <p:sp>
        <p:nvSpPr>
          <p:cNvPr id="5" name="Text 3"/>
          <p:cNvSpPr/>
          <p:nvPr/>
        </p:nvSpPr>
        <p:spPr>
          <a:xfrm>
            <a:off x="731520" y="1426464"/>
            <a:ext cx="7680960" cy="786384"/>
          </a:xfrm>
          <a:prstGeom prst="rect">
            <a:avLst/>
          </a:prstGeom>
          <a:noFill/>
          <a:ln/>
        </p:spPr>
        <p:txBody>
          <a:bodyPr wrap="square" lIns="0" tIns="0" rIns="0" bIns="0" rtlCol="0" anchor="ctr"/>
          <a:lstStyle/>
          <a:p>
            <a:pPr indent="0" marL="0">
              <a:buNone/>
            </a:pPr>
            <a:r>
              <a:rPr lang="en-US" sz="1100" b="1" spc="100" kern="0" dirty="0">
                <a:solidFill>
                  <a:srgbClr val="028090"/>
                </a:solidFill>
                <a:latin typeface="Trebuchet MS" pitchFamily="34" charset="0"/>
                <a:ea typeface="Trebuchet MS" pitchFamily="34" charset="-122"/>
                <a:cs typeface="Trebuchet MS" pitchFamily="34" charset="-120"/>
              </a:rPr>
              <a:t>SHARED PROMPT · 275 tok   </a:t>
            </a:r>
            <a:pPr indent="0" marL="0">
              <a:buNone/>
            </a:pPr>
            <a:r>
              <a:rPr lang="en-US" sz="1250" i="1" dirty="0">
                <a:solidFill>
                  <a:srgbClr val="12262B"/>
                </a:solidFill>
                <a:latin typeface="Calibri" pitchFamily="34" charset="0"/>
                <a:ea typeface="Calibri" pitchFamily="34" charset="-122"/>
                <a:cs typeface="Calibri" pitchFamily="34" charset="-120"/>
              </a:rPr>
              <a:t>checkout-API incident working notes: symptoms, HikariCP pool, fraud-call-in-transaction root cause, and the agreed fix.</a:t>
            </a:r>
            <a:endParaRPr lang="en-US" sz="1100" dirty="0"/>
          </a:p>
        </p:txBody>
      </p:sp>
      <p:sp>
        <p:nvSpPr>
          <p:cNvPr id="6" name="Shape 4"/>
          <p:cNvSpPr/>
          <p:nvPr/>
        </p:nvSpPr>
        <p:spPr>
          <a:xfrm>
            <a:off x="548640" y="2432304"/>
            <a:ext cx="3977640" cy="2103120"/>
          </a:xfrm>
          <a:prstGeom prst="roundRect">
            <a:avLst>
              <a:gd name="adj" fmla="val 3478"/>
            </a:avLst>
          </a:prstGeom>
          <a:solidFill>
            <a:srgbClr val="FFFFFF"/>
          </a:solidFill>
          <a:ln w="19050">
            <a:solidFill>
              <a:srgbClr val="C0603A"/>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548640" y="2432304"/>
            <a:ext cx="109728" cy="2103120"/>
          </a:xfrm>
          <a:prstGeom prst="rect">
            <a:avLst/>
          </a:prstGeom>
          <a:solidFill>
            <a:srgbClr val="C0603A"/>
          </a:solidFill>
          <a:ln/>
        </p:spPr>
      </p:sp>
      <p:sp>
        <p:nvSpPr>
          <p:cNvPr id="8" name="Text 6"/>
          <p:cNvSpPr/>
          <p:nvPr/>
        </p:nvSpPr>
        <p:spPr>
          <a:xfrm>
            <a:off x="841248" y="2615184"/>
            <a:ext cx="3520440" cy="365760"/>
          </a:xfrm>
          <a:prstGeom prst="rect">
            <a:avLst/>
          </a:prstGeom>
          <a:noFill/>
          <a:ln/>
        </p:spPr>
        <p:txBody>
          <a:bodyPr wrap="square" lIns="0" tIns="0" rIns="0" bIns="0" rtlCol="0" anchor="ctr"/>
          <a:lstStyle/>
          <a:p>
            <a:pPr indent="0" marL="0">
              <a:buNone/>
            </a:pPr>
            <a:r>
              <a:rPr lang="en-US" sz="1700" b="1" dirty="0">
                <a:solidFill>
                  <a:srgbClr val="C0603A"/>
                </a:solidFill>
                <a:latin typeface="Trebuchet MS" pitchFamily="34" charset="0"/>
                <a:ea typeface="Trebuchet MS" pitchFamily="34" charset="-122"/>
                <a:cs typeface="Trebuchet MS" pitchFamily="34" charset="-120"/>
              </a:rPr>
              <a:t>CAVEMAN instructions</a:t>
            </a:r>
            <a:endParaRPr lang="en-US" sz="1700" dirty="0"/>
          </a:p>
        </p:txBody>
      </p:sp>
      <p:sp>
        <p:nvSpPr>
          <p:cNvPr id="9" name="Text 7"/>
          <p:cNvSpPr/>
          <p:nvPr/>
        </p:nvSpPr>
        <p:spPr>
          <a:xfrm>
            <a:off x="841248" y="3108960"/>
            <a:ext cx="3410712" cy="1280160"/>
          </a:xfrm>
          <a:prstGeom prst="rect">
            <a:avLst/>
          </a:prstGeom>
          <a:noFill/>
          <a:ln/>
        </p:spPr>
        <p:txBody>
          <a:bodyPr wrap="square" lIns="0" tIns="0" rIns="0" bIns="0" rtlCol="0" anchor="t"/>
          <a:lstStyle/>
          <a:p>
            <a:pPr indent="0" marL="0">
              <a:buNone/>
            </a:pPr>
            <a:r>
              <a:rPr lang="en-US" sz="1250" i="1" dirty="0">
                <a:solidFill>
                  <a:srgbClr val="12262B"/>
                </a:solidFill>
                <a:latin typeface="Calibri" pitchFamily="34" charset="0"/>
                <a:ea typeface="Calibri" pitchFamily="34" charset="-122"/>
                <a:cs typeface="Calibri" pitchFamily="34" charset="-120"/>
              </a:rPr>
              <a:t>“Drop filler words, articles, and pleasantries; use short telegraphic fragments. Keep every technical fact, step, and caveat accurate. Compress the style, not the meaning.”</a:t>
            </a:r>
            <a:endParaRPr lang="en-US" sz="1250" dirty="0"/>
          </a:p>
        </p:txBody>
      </p:sp>
      <p:sp>
        <p:nvSpPr>
          <p:cNvPr id="10" name="Shape 8"/>
          <p:cNvSpPr/>
          <p:nvPr/>
        </p:nvSpPr>
        <p:spPr>
          <a:xfrm>
            <a:off x="4617720" y="2432304"/>
            <a:ext cx="3977640" cy="2103120"/>
          </a:xfrm>
          <a:prstGeom prst="roundRect">
            <a:avLst>
              <a:gd name="adj" fmla="val 3478"/>
            </a:avLst>
          </a:prstGeom>
          <a:solidFill>
            <a:srgbClr val="FFFFFF"/>
          </a:solidFill>
          <a:ln w="19050">
            <a:solidFill>
              <a:srgbClr val="028090"/>
            </a:solidFill>
            <a:prstDash val="solid"/>
          </a:ln>
          <a:effectLst>
            <a:outerShdw sx="100000" sy="100000" kx="0" ky="0" algn="bl" rotWithShape="0" blurRad="88900" dist="38100" dir="8100000">
              <a:srgbClr val="000000">
                <a:alpha val="18000"/>
              </a:srgbClr>
            </a:outerShdw>
          </a:effectLst>
        </p:spPr>
      </p:sp>
      <p:sp>
        <p:nvSpPr>
          <p:cNvPr id="11" name="Shape 9"/>
          <p:cNvSpPr/>
          <p:nvPr/>
        </p:nvSpPr>
        <p:spPr>
          <a:xfrm>
            <a:off x="4617720" y="2432304"/>
            <a:ext cx="109728" cy="2103120"/>
          </a:xfrm>
          <a:prstGeom prst="rect">
            <a:avLst/>
          </a:prstGeom>
          <a:solidFill>
            <a:srgbClr val="028090"/>
          </a:solidFill>
          <a:ln/>
        </p:spPr>
      </p:sp>
      <p:sp>
        <p:nvSpPr>
          <p:cNvPr id="12" name="Text 10"/>
          <p:cNvSpPr/>
          <p:nvPr/>
        </p:nvSpPr>
        <p:spPr>
          <a:xfrm>
            <a:off x="4910328" y="2615184"/>
            <a:ext cx="3520440" cy="365760"/>
          </a:xfrm>
          <a:prstGeom prst="rect">
            <a:avLst/>
          </a:prstGeom>
          <a:noFill/>
          <a:ln/>
        </p:spPr>
        <p:txBody>
          <a:bodyPr wrap="square" lIns="0" tIns="0" rIns="0" bIns="0" rtlCol="0" anchor="ctr"/>
          <a:lstStyle/>
          <a:p>
            <a:pPr indent="0" marL="0">
              <a:buNone/>
            </a:pPr>
            <a:r>
              <a:rPr lang="en-US" sz="1700" b="1" dirty="0">
                <a:solidFill>
                  <a:srgbClr val="028090"/>
                </a:solidFill>
                <a:latin typeface="Trebuchet MS" pitchFamily="34" charset="0"/>
                <a:ea typeface="Trebuchet MS" pitchFamily="34" charset="-122"/>
                <a:cs typeface="Trebuchet MS" pitchFamily="34" charset="-120"/>
              </a:rPr>
              <a:t>COMPACTION instructions</a:t>
            </a:r>
            <a:endParaRPr lang="en-US" sz="1700" dirty="0"/>
          </a:p>
        </p:txBody>
      </p:sp>
      <p:sp>
        <p:nvSpPr>
          <p:cNvPr id="13" name="Text 11"/>
          <p:cNvSpPr/>
          <p:nvPr/>
        </p:nvSpPr>
        <p:spPr>
          <a:xfrm>
            <a:off x="4910328" y="3108960"/>
            <a:ext cx="3410712" cy="1280160"/>
          </a:xfrm>
          <a:prstGeom prst="rect">
            <a:avLst/>
          </a:prstGeom>
          <a:noFill/>
          <a:ln/>
        </p:spPr>
        <p:txBody>
          <a:bodyPr wrap="square" lIns="0" tIns="0" rIns="0" bIns="0" rtlCol="0" anchor="t"/>
          <a:lstStyle/>
          <a:p>
            <a:pPr indent="0" marL="0">
              <a:buNone/>
            </a:pPr>
            <a:r>
              <a:rPr lang="en-US" sz="1250" i="1" dirty="0">
                <a:solidFill>
                  <a:srgbClr val="12262B"/>
                </a:solidFill>
                <a:latin typeface="Calibri" pitchFamily="34" charset="0"/>
                <a:ea typeface="Calibri" pitchFamily="34" charset="-122"/>
                <a:cs typeface="Calibri" pitchFamily="34" charset="-120"/>
              </a:rPr>
              <a:t>“Compact the working notes into a concise durable summary. At most six sentences. Preserve only next-turn essentials; remove repetition and detail not needed next.”</a:t>
            </a:r>
            <a:endParaRPr lang="en-US" sz="1250" dirty="0"/>
          </a:p>
        </p:txBody>
      </p:sp>
      <p:sp>
        <p:nvSpPr>
          <p:cNvPr id="14" name="Text 12"/>
          <p:cNvSpPr/>
          <p:nvPr/>
        </p:nvSpPr>
        <p:spPr>
          <a:xfrm>
            <a:off x="548640" y="4846320"/>
            <a:ext cx="8229600" cy="237744"/>
          </a:xfrm>
          <a:prstGeom prst="rect">
            <a:avLst/>
          </a:prstGeom>
          <a:noFill/>
          <a:ln/>
        </p:spPr>
        <p:txBody>
          <a:bodyPr wrap="square" lIns="0" tIns="0" rIns="0" bIns="0" rtlCol="0" anchor="ctr"/>
          <a:lstStyle/>
          <a:p>
            <a:pPr algn="l" indent="0" marL="0">
              <a:buNone/>
            </a:pPr>
            <a:r>
              <a:rPr lang="en-US" sz="900" i="1" dirty="0">
                <a:solidFill>
                  <a:srgbClr val="5B7B82"/>
                </a:solidFill>
                <a:latin typeface="Calibri" pitchFamily="34" charset="0"/>
                <a:ea typeface="Calibri" pitchFamily="34" charset="-122"/>
                <a:cs typeface="Calibri" pitchFamily="34" charset="-120"/>
              </a:rPr>
              <a:t>Live · Foundry gpt-chat-latest · westus3 · one shared prompt, two instruction sets · input $5 / output $30 per 1M tokens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8"/>
        </a:solidFill>
      </p:bgPr>
    </p:bg>
    <p:spTree>
      <p:nvGrpSpPr>
        <p:cNvPr id="1" name=""/>
        <p:cNvGrpSpPr/>
        <p:nvPr/>
      </p:nvGrpSpPr>
      <p:grpSpPr>
        <a:xfrm>
          <a:off x="0" y="0"/>
          <a:ext cx="0" cy="0"/>
          <a:chOff x="0" y="0"/>
          <a:chExt cx="0" cy="0"/>
        </a:xfrm>
      </p:grpSpPr>
      <p:sp>
        <p:nvSpPr>
          <p:cNvPr id="2" name="Text 0"/>
          <p:cNvSpPr/>
          <p:nvPr/>
        </p:nvSpPr>
        <p:spPr>
          <a:xfrm>
            <a:off x="548640" y="310896"/>
            <a:ext cx="82296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Trebuchet MS" pitchFamily="34" charset="0"/>
                <a:ea typeface="Trebuchet MS" pitchFamily="34" charset="-122"/>
                <a:cs typeface="Trebuchet MS" pitchFamily="34" charset="-120"/>
              </a:rPr>
              <a:t>THE OUTPUTS</a:t>
            </a:r>
            <a:endParaRPr lang="en-US" sz="1200" dirty="0"/>
          </a:p>
        </p:txBody>
      </p:sp>
      <p:sp>
        <p:nvSpPr>
          <p:cNvPr id="3" name="Text 1"/>
          <p:cNvSpPr/>
          <p:nvPr/>
        </p:nvSpPr>
        <p:spPr>
          <a:xfrm>
            <a:off x="548640" y="566928"/>
            <a:ext cx="8229600" cy="548640"/>
          </a:xfrm>
          <a:prstGeom prst="rect">
            <a:avLst/>
          </a:prstGeom>
          <a:noFill/>
          <a:ln/>
        </p:spPr>
        <p:txBody>
          <a:bodyPr wrap="square" lIns="0" tIns="0" rIns="0" bIns="0" rtlCol="0" anchor="ctr"/>
          <a:lstStyle/>
          <a:p>
            <a:pPr indent="0" marL="0">
              <a:buNone/>
            </a:pPr>
            <a:r>
              <a:rPr lang="en-US" sz="2500" b="1" dirty="0">
                <a:solidFill>
                  <a:srgbClr val="12262B"/>
                </a:solidFill>
                <a:latin typeface="Trebuchet MS" pitchFamily="34" charset="0"/>
                <a:ea typeface="Trebuchet MS" pitchFamily="34" charset="-122"/>
                <a:cs typeface="Trebuchet MS" pitchFamily="34" charset="-120"/>
              </a:rPr>
              <a:t>Same facts, two very different shapes</a:t>
            </a:r>
            <a:endParaRPr lang="en-US" sz="2500" dirty="0"/>
          </a:p>
        </p:txBody>
      </p:sp>
      <p:sp>
        <p:nvSpPr>
          <p:cNvPr id="4" name="Shape 2"/>
          <p:cNvSpPr/>
          <p:nvPr/>
        </p:nvSpPr>
        <p:spPr>
          <a:xfrm>
            <a:off x="548640" y="1417320"/>
            <a:ext cx="3977640" cy="3246120"/>
          </a:xfrm>
          <a:prstGeom prst="roundRect">
            <a:avLst>
              <a:gd name="adj" fmla="val 2254"/>
            </a:avLst>
          </a:prstGeom>
          <a:solidFill>
            <a:srgbClr val="FFFFFF"/>
          </a:solidFill>
          <a:ln w="19050">
            <a:solidFill>
              <a:srgbClr val="C0603A"/>
            </a:solidFill>
            <a:prstDash val="solid"/>
          </a:ln>
          <a:effectLst>
            <a:outerShdw sx="100000" sy="100000" kx="0" ky="0" algn="bl" rotWithShape="0" blurRad="88900" dist="38100" dir="8100000">
              <a:srgbClr val="000000">
                <a:alpha val="18000"/>
              </a:srgbClr>
            </a:outerShdw>
          </a:effectLst>
        </p:spPr>
      </p:sp>
      <p:sp>
        <p:nvSpPr>
          <p:cNvPr id="5" name="Text 3"/>
          <p:cNvSpPr/>
          <p:nvPr/>
        </p:nvSpPr>
        <p:spPr>
          <a:xfrm>
            <a:off x="804672" y="1563624"/>
            <a:ext cx="3465576" cy="310896"/>
          </a:xfrm>
          <a:prstGeom prst="rect">
            <a:avLst/>
          </a:prstGeom>
          <a:noFill/>
          <a:ln/>
        </p:spPr>
        <p:txBody>
          <a:bodyPr wrap="square" lIns="0" tIns="0" rIns="0" bIns="0" rtlCol="0" anchor="ctr"/>
          <a:lstStyle/>
          <a:p>
            <a:pPr indent="0" marL="0">
              <a:buNone/>
            </a:pPr>
            <a:r>
              <a:rPr lang="en-US" sz="1600" b="1" dirty="0">
                <a:solidFill>
                  <a:srgbClr val="C0603A"/>
                </a:solidFill>
                <a:latin typeface="Trebuchet MS" pitchFamily="34" charset="0"/>
                <a:ea typeface="Trebuchet MS" pitchFamily="34" charset="-122"/>
                <a:cs typeface="Trebuchet MS" pitchFamily="34" charset="-120"/>
              </a:rPr>
              <a:t>CAVEMAN output</a:t>
            </a:r>
            <a:endParaRPr lang="en-US" sz="1600" dirty="0"/>
          </a:p>
        </p:txBody>
      </p:sp>
      <p:sp>
        <p:nvSpPr>
          <p:cNvPr id="6" name="Text 4"/>
          <p:cNvSpPr/>
          <p:nvPr/>
        </p:nvSpPr>
        <p:spPr>
          <a:xfrm>
            <a:off x="804672" y="1929384"/>
            <a:ext cx="3465576" cy="256032"/>
          </a:xfrm>
          <a:prstGeom prst="rect">
            <a:avLst/>
          </a:prstGeom>
          <a:noFill/>
          <a:ln/>
        </p:spPr>
        <p:txBody>
          <a:bodyPr wrap="square" lIns="0" tIns="0" rIns="0" bIns="0" rtlCol="0" anchor="ctr"/>
          <a:lstStyle/>
          <a:p>
            <a:pPr indent="0" marL="0">
              <a:buNone/>
            </a:pPr>
            <a:r>
              <a:rPr lang="en-US" sz="1150" i="1" dirty="0">
                <a:solidFill>
                  <a:srgbClr val="5B7B82"/>
                </a:solidFill>
                <a:latin typeface="Calibri" pitchFamily="34" charset="0"/>
                <a:ea typeface="Calibri" pitchFamily="34" charset="-122"/>
                <a:cs typeface="Calibri" pitchFamily="34" charset="-120"/>
              </a:rPr>
              <a:t>telegraphic fragments — keeps every detail</a:t>
            </a:r>
            <a:endParaRPr lang="en-US" sz="1150" dirty="0"/>
          </a:p>
        </p:txBody>
      </p:sp>
      <p:sp>
        <p:nvSpPr>
          <p:cNvPr id="7" name="Shape 5"/>
          <p:cNvSpPr/>
          <p:nvPr/>
        </p:nvSpPr>
        <p:spPr>
          <a:xfrm>
            <a:off x="804672" y="2276856"/>
            <a:ext cx="3465576" cy="2249424"/>
          </a:xfrm>
          <a:prstGeom prst="roundRect">
            <a:avLst>
              <a:gd name="adj" fmla="val 2033"/>
            </a:avLst>
          </a:prstGeom>
          <a:solidFill>
            <a:srgbClr val="0E2A31"/>
          </a:solidFill>
          <a:ln/>
        </p:spPr>
      </p:sp>
      <p:sp>
        <p:nvSpPr>
          <p:cNvPr id="8" name="Text 6"/>
          <p:cNvSpPr/>
          <p:nvPr/>
        </p:nvSpPr>
        <p:spPr>
          <a:xfrm>
            <a:off x="950976" y="2386584"/>
            <a:ext cx="3191256" cy="2048256"/>
          </a:xfrm>
          <a:prstGeom prst="rect">
            <a:avLst/>
          </a:prstGeom>
          <a:noFill/>
          <a:ln/>
        </p:spPr>
        <p:txBody>
          <a:bodyPr wrap="square" lIns="0" tIns="0" rIns="0" bIns="0" rtlCol="0" anchor="t"/>
          <a:lstStyle/>
          <a:p>
            <a:pPr indent="0" marL="0">
              <a:lnSpc>
                <a:spcPct val="102000"/>
              </a:lnSpc>
              <a:buNone/>
            </a:pPr>
            <a:r>
              <a:rPr lang="en-US" sz="900" dirty="0">
                <a:solidFill>
                  <a:srgbClr val="CFE8EA"/>
                </a:solidFill>
                <a:latin typeface="Consolas" pitchFamily="34" charset="0"/>
                <a:ea typeface="Consolas" pitchFamily="34" charset="-122"/>
                <a:cs typeface="Consolas" pitchFamily="34" charset="-120"/>
              </a:rPr>
              <a:t>Checkout API incident notes</a:t>
            </a:r>
            <a:endParaRPr lang="en-US" sz="900" dirty="0"/>
          </a:p>
          <a:p>
            <a:pPr indent="0" marL="0">
              <a:lnSpc>
                <a:spcPct val="102000"/>
              </a:lnSpc>
              <a:buNone/>
            </a:pPr>
            <a:r>
              <a:rPr lang="en-US" sz="900" dirty="0">
                <a:solidFill>
                  <a:srgbClr val="CFE8EA"/>
                </a:solidFill>
                <a:latin typeface="Consolas" pitchFamily="34" charset="0"/>
                <a:ea typeface="Consolas" pitchFamily="34" charset="-122"/>
                <a:cs typeface="Consolas" pitchFamily="34" charset="-120"/>
              </a:rPr>
              <a:t>- Yesterday flash sale: checkout API intermittent HTTP 500.</a:t>
            </a:r>
            <a:endParaRPr lang="en-US" sz="900" dirty="0"/>
          </a:p>
          <a:p>
            <a:pPr indent="0" marL="0">
              <a:lnSpc>
                <a:spcPct val="102000"/>
              </a:lnSpc>
              <a:buNone/>
            </a:pPr>
            <a:r>
              <a:rPr lang="en-US" sz="900" dirty="0">
                <a:solidFill>
                  <a:srgbClr val="CFE8EA"/>
                </a:solidFill>
                <a:latin typeface="Consolas" pitchFamily="34" charset="0"/>
                <a:ea typeface="Consolas" pitchFamily="34" charset="-122"/>
                <a:cs typeface="Consolas" pitchFamily="34" charset="-120"/>
              </a:rPr>
              <a:t>- Service: Spring Boot behind AWS load balancer.</a:t>
            </a:r>
            <a:endParaRPr lang="en-US" sz="900" dirty="0"/>
          </a:p>
          <a:p>
            <a:pPr indent="0" marL="0">
              <a:lnSpc>
                <a:spcPct val="102000"/>
              </a:lnSpc>
              <a:buNone/>
            </a:pPr>
            <a:r>
              <a:rPr lang="en-US" sz="900" dirty="0">
                <a:solidFill>
                  <a:srgbClr val="CFE8EA"/>
                </a:solidFill>
                <a:latin typeface="Consolas" pitchFamily="34" charset="0"/>
                <a:ea typeface="Consolas" pitchFamily="34" charset="-122"/>
                <a:cs typeface="Consolas" pitchFamily="34" charset="-120"/>
              </a:rPr>
              <a:t>- DB access: HikariCP, max pool size 20.</a:t>
            </a:r>
            <a:endParaRPr lang="en-US" sz="900" dirty="0"/>
          </a:p>
          <a:p>
            <a:pPr indent="0" marL="0">
              <a:lnSpc>
                <a:spcPct val="102000"/>
              </a:lnSpc>
              <a:buNone/>
            </a:pPr>
            <a:r>
              <a:rPr lang="en-US" sz="900" dirty="0">
                <a:solidFill>
                  <a:srgbClr val="CFE8EA"/>
                </a:solidFill>
                <a:latin typeface="Consolas" pitchFamily="34" charset="0"/>
                <a:ea typeface="Consolas" pitchFamily="34" charset="-122"/>
                <a:cs typeface="Consolas" pitchFamily="34" charset="-120"/>
              </a:rPr>
              <a:t>- Database: single PostgreSQL primary.</a:t>
            </a:r>
            <a:endParaRPr lang="en-US" sz="900" dirty="0"/>
          </a:p>
          <a:p>
            <a:pPr indent="0" marL="0">
              <a:lnSpc>
                <a:spcPct val="102000"/>
              </a:lnSpc>
              <a:buNone/>
            </a:pPr>
            <a:r>
              <a:rPr lang="en-US" sz="900" dirty="0">
                <a:solidFill>
                  <a:srgbClr val="CFE8EA"/>
                </a:solidFill>
                <a:latin typeface="Consolas" pitchFamily="34" charset="0"/>
                <a:ea typeface="Consolas" pitchFamily="34" charset="-122"/>
                <a:cs typeface="Consolas" pitchFamily="34" charset="-120"/>
              </a:rPr>
              <a:t>Current flow:</a:t>
            </a:r>
            <a:endParaRPr lang="en-US" sz="900" dirty="0"/>
          </a:p>
          <a:p>
            <a:pPr indent="0" marL="0">
              <a:lnSpc>
                <a:spcPct val="102000"/>
              </a:lnSpc>
              <a:buNone/>
            </a:pPr>
            <a:r>
              <a:rPr lang="en-US" sz="900" dirty="0">
                <a:solidFill>
                  <a:srgbClr val="CFE8EA"/>
                </a:solidFill>
                <a:latin typeface="Consolas" pitchFamily="34" charset="0"/>
                <a:ea typeface="Consolas" pitchFamily="34" charset="-122"/>
                <a:cs typeface="Consolas" pitchFamily="34" charset="-120"/>
              </a:rPr>
              <a:t>1. Checkout request starts DB transaction.</a:t>
            </a:r>
            <a:endParaRPr lang="en-US" sz="900" dirty="0"/>
          </a:p>
          <a:p>
            <a:pPr indent="0" marL="0">
              <a:lnSpc>
                <a:spcPct val="102000"/>
              </a:lnSpc>
              <a:buNone/>
            </a:pPr>
            <a:r>
              <a:rPr lang="en-US" sz="900" dirty="0">
                <a:solidFill>
                  <a:srgbClr val="CFE8EA"/>
                </a:solidFill>
                <a:latin typeface="Consolas" pitchFamily="34" charset="0"/>
                <a:ea typeface="Consolas" pitchFamily="34" charset="-122"/>
                <a:cs typeface="Consolas" pitchFamily="34" charset="-120"/>
              </a:rPr>
              <a:t>2. Call external fraud-detection API.</a:t>
            </a:r>
            <a:endParaRPr lang="en-US" sz="900" dirty="0"/>
          </a:p>
          <a:p>
            <a:pPr indent="0" marL="0">
              <a:lnSpc>
                <a:spcPct val="102000"/>
              </a:lnSpc>
              <a:buNone/>
            </a:pPr>
            <a:r>
              <a:rPr lang="en-US" sz="900" dirty="0">
                <a:solidFill>
                  <a:srgbClr val="CFE8EA"/>
                </a:solidFill>
                <a:latin typeface="Consolas" pitchFamily="34" charset="0"/>
                <a:ea typeface="Consolas" pitchFamily="34" charset="-122"/>
                <a:cs typeface="Consolas" pitchFamily="34" charset="-120"/>
              </a:rPr>
              <a:t>3. After fraud response, insert order rows.</a:t>
            </a:r>
            <a:endParaRPr lang="en-US" sz="900" dirty="0"/>
          </a:p>
        </p:txBody>
      </p:sp>
      <p:sp>
        <p:nvSpPr>
          <p:cNvPr id="9" name="Shape 7"/>
          <p:cNvSpPr/>
          <p:nvPr/>
        </p:nvSpPr>
        <p:spPr>
          <a:xfrm>
            <a:off x="4617720" y="1417320"/>
            <a:ext cx="3977640" cy="3246120"/>
          </a:xfrm>
          <a:prstGeom prst="roundRect">
            <a:avLst>
              <a:gd name="adj" fmla="val 2254"/>
            </a:avLst>
          </a:prstGeom>
          <a:solidFill>
            <a:srgbClr val="FFFFFF"/>
          </a:solidFill>
          <a:ln w="19050">
            <a:solidFill>
              <a:srgbClr val="028090"/>
            </a:solidFill>
            <a:prstDash val="solid"/>
          </a:ln>
          <a:effectLst>
            <a:outerShdw sx="100000" sy="100000" kx="0" ky="0" algn="bl" rotWithShape="0" blurRad="88900" dist="38100" dir="8100000">
              <a:srgbClr val="000000">
                <a:alpha val="18000"/>
              </a:srgbClr>
            </a:outerShdw>
          </a:effectLst>
        </p:spPr>
      </p:sp>
      <p:sp>
        <p:nvSpPr>
          <p:cNvPr id="10" name="Text 8"/>
          <p:cNvSpPr/>
          <p:nvPr/>
        </p:nvSpPr>
        <p:spPr>
          <a:xfrm>
            <a:off x="4873752" y="1563624"/>
            <a:ext cx="3465576" cy="310896"/>
          </a:xfrm>
          <a:prstGeom prst="rect">
            <a:avLst/>
          </a:prstGeom>
          <a:noFill/>
          <a:ln/>
        </p:spPr>
        <p:txBody>
          <a:bodyPr wrap="square" lIns="0" tIns="0" rIns="0" bIns="0" rtlCol="0" anchor="ctr"/>
          <a:lstStyle/>
          <a:p>
            <a:pPr indent="0" marL="0">
              <a:buNone/>
            </a:pPr>
            <a:r>
              <a:rPr lang="en-US" sz="1600" b="1" dirty="0">
                <a:solidFill>
                  <a:srgbClr val="028090"/>
                </a:solidFill>
                <a:latin typeface="Trebuchet MS" pitchFamily="34" charset="0"/>
                <a:ea typeface="Trebuchet MS" pitchFamily="34" charset="-122"/>
                <a:cs typeface="Trebuchet MS" pitchFamily="34" charset="-120"/>
              </a:rPr>
              <a:t>COMPACTION output</a:t>
            </a:r>
            <a:endParaRPr lang="en-US" sz="1600" dirty="0"/>
          </a:p>
        </p:txBody>
      </p:sp>
      <p:sp>
        <p:nvSpPr>
          <p:cNvPr id="11" name="Text 9"/>
          <p:cNvSpPr/>
          <p:nvPr/>
        </p:nvSpPr>
        <p:spPr>
          <a:xfrm>
            <a:off x="4873752" y="1929384"/>
            <a:ext cx="3465576" cy="256032"/>
          </a:xfrm>
          <a:prstGeom prst="rect">
            <a:avLst/>
          </a:prstGeom>
          <a:noFill/>
          <a:ln/>
        </p:spPr>
        <p:txBody>
          <a:bodyPr wrap="square" lIns="0" tIns="0" rIns="0" bIns="0" rtlCol="0" anchor="ctr"/>
          <a:lstStyle/>
          <a:p>
            <a:pPr indent="0" marL="0">
              <a:buNone/>
            </a:pPr>
            <a:r>
              <a:rPr lang="en-US" sz="1150" i="1" dirty="0">
                <a:solidFill>
                  <a:srgbClr val="5B7B82"/>
                </a:solidFill>
                <a:latin typeface="Calibri" pitchFamily="34" charset="0"/>
                <a:ea typeface="Calibri" pitchFamily="34" charset="-122"/>
                <a:cs typeface="Calibri" pitchFamily="34" charset="-120"/>
              </a:rPr>
              <a:t>dense essentials — drops the detail</a:t>
            </a:r>
            <a:endParaRPr lang="en-US" sz="1150" dirty="0"/>
          </a:p>
        </p:txBody>
      </p:sp>
      <p:sp>
        <p:nvSpPr>
          <p:cNvPr id="12" name="Shape 10"/>
          <p:cNvSpPr/>
          <p:nvPr/>
        </p:nvSpPr>
        <p:spPr>
          <a:xfrm>
            <a:off x="4873752" y="2276856"/>
            <a:ext cx="3465576" cy="2249424"/>
          </a:xfrm>
          <a:prstGeom prst="roundRect">
            <a:avLst>
              <a:gd name="adj" fmla="val 2033"/>
            </a:avLst>
          </a:prstGeom>
          <a:solidFill>
            <a:srgbClr val="0E2A31"/>
          </a:solidFill>
          <a:ln/>
        </p:spPr>
      </p:sp>
      <p:sp>
        <p:nvSpPr>
          <p:cNvPr id="13" name="Text 11"/>
          <p:cNvSpPr/>
          <p:nvPr/>
        </p:nvSpPr>
        <p:spPr>
          <a:xfrm>
            <a:off x="5020056" y="2386584"/>
            <a:ext cx="3191256" cy="2048256"/>
          </a:xfrm>
          <a:prstGeom prst="rect">
            <a:avLst/>
          </a:prstGeom>
          <a:noFill/>
          <a:ln/>
        </p:spPr>
        <p:txBody>
          <a:bodyPr wrap="square" lIns="0" tIns="0" rIns="0" bIns="0" rtlCol="0" anchor="t"/>
          <a:lstStyle/>
          <a:p>
            <a:pPr indent="0" marL="0">
              <a:lnSpc>
                <a:spcPct val="102000"/>
              </a:lnSpc>
              <a:buNone/>
            </a:pPr>
            <a:r>
              <a:rPr lang="en-US" sz="900" dirty="0">
                <a:solidFill>
                  <a:srgbClr val="CFE8EA"/>
                </a:solidFill>
                <a:latin typeface="Consolas" pitchFamily="34" charset="0"/>
                <a:ea typeface="Consolas" pitchFamily="34" charset="-122"/>
                <a:cs typeface="Consolas" pitchFamily="34" charset="-120"/>
              </a:rPr>
              <a:t>Goal: document the checkout API incident root cause and agreed remediation. Key facts: a Spring Boot service behind AWS LB uses HikariCP and PostgreSQL; during a flash-sale traffic surge, connection-pool utilization reached capacity and requests failed waiting for connections, while database health, query performance, and lock contention were ruled out. Root cause: each checkout request opens a transaction and holds the …</a:t>
            </a:r>
            <a:endParaRPr lang="en-US" sz="900" dirty="0"/>
          </a:p>
        </p:txBody>
      </p:sp>
      <p:sp>
        <p:nvSpPr>
          <p:cNvPr id="14" name="Text 12"/>
          <p:cNvSpPr/>
          <p:nvPr/>
        </p:nvSpPr>
        <p:spPr>
          <a:xfrm>
            <a:off x="548640" y="4846320"/>
            <a:ext cx="8229600" cy="237744"/>
          </a:xfrm>
          <a:prstGeom prst="rect">
            <a:avLst/>
          </a:prstGeom>
          <a:noFill/>
          <a:ln/>
        </p:spPr>
        <p:txBody>
          <a:bodyPr wrap="square" lIns="0" tIns="0" rIns="0" bIns="0" rtlCol="0" anchor="ctr"/>
          <a:lstStyle/>
          <a:p>
            <a:pPr algn="l" indent="0" marL="0">
              <a:buNone/>
            </a:pPr>
            <a:r>
              <a:rPr lang="en-US" sz="900" i="1" dirty="0">
                <a:solidFill>
                  <a:srgbClr val="5B7B82"/>
                </a:solidFill>
                <a:latin typeface="Calibri" pitchFamily="34" charset="0"/>
                <a:ea typeface="Calibri" pitchFamily="34" charset="-122"/>
                <a:cs typeface="Calibri" pitchFamily="34" charset="-120"/>
              </a:rPr>
              <a:t>Live · Foundry gpt-chat-latest · westus3 · one shared prompt, two instruction sets · input $5 / output $30 per 1M tokens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8"/>
        </a:solidFill>
      </p:bgPr>
    </p:bg>
    <p:spTree>
      <p:nvGrpSpPr>
        <p:cNvPr id="1" name=""/>
        <p:cNvGrpSpPr/>
        <p:nvPr/>
      </p:nvGrpSpPr>
      <p:grpSpPr>
        <a:xfrm>
          <a:off x="0" y="0"/>
          <a:ext cx="0" cy="0"/>
          <a:chOff x="0" y="0"/>
          <a:chExt cx="0" cy="0"/>
        </a:xfrm>
      </p:grpSpPr>
      <p:sp>
        <p:nvSpPr>
          <p:cNvPr id="2" name="Text 0"/>
          <p:cNvSpPr/>
          <p:nvPr/>
        </p:nvSpPr>
        <p:spPr>
          <a:xfrm>
            <a:off x="548640" y="310896"/>
            <a:ext cx="82296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Trebuchet MS" pitchFamily="34" charset="0"/>
                <a:ea typeface="Trebuchet MS" pitchFamily="34" charset="-122"/>
                <a:cs typeface="Trebuchet MS" pitchFamily="34" charset="-120"/>
              </a:rPr>
              <a:t>THE RESULT</a:t>
            </a:r>
            <a:endParaRPr lang="en-US" sz="1200" dirty="0"/>
          </a:p>
        </p:txBody>
      </p:sp>
      <p:sp>
        <p:nvSpPr>
          <p:cNvPr id="3" name="Text 1"/>
          <p:cNvSpPr/>
          <p:nvPr/>
        </p:nvSpPr>
        <p:spPr>
          <a:xfrm>
            <a:off x="548640" y="566928"/>
            <a:ext cx="8229600" cy="548640"/>
          </a:xfrm>
          <a:prstGeom prst="rect">
            <a:avLst/>
          </a:prstGeom>
          <a:noFill/>
          <a:ln/>
        </p:spPr>
        <p:txBody>
          <a:bodyPr wrap="square" lIns="0" tIns="0" rIns="0" bIns="0" rtlCol="0" anchor="ctr"/>
          <a:lstStyle/>
          <a:p>
            <a:pPr indent="0" marL="0">
              <a:buNone/>
            </a:pPr>
            <a:r>
              <a:rPr lang="en-US" sz="2500" b="1" dirty="0">
                <a:solidFill>
                  <a:srgbClr val="12262B"/>
                </a:solidFill>
                <a:latin typeface="Trebuchet MS" pitchFamily="34" charset="0"/>
                <a:ea typeface="Trebuchet MS" pitchFamily="34" charset="-122"/>
                <a:cs typeface="Trebuchet MS" pitchFamily="34" charset="-120"/>
              </a:rPr>
              <a:t>Only compaction actually shrinks the notes</a:t>
            </a:r>
            <a:endParaRPr lang="en-US" sz="2500" dirty="0"/>
          </a:p>
        </p:txBody>
      </p:sp>
      <p:sp>
        <p:nvSpPr>
          <p:cNvPr id="4" name="Text 2"/>
          <p:cNvSpPr/>
          <p:nvPr/>
        </p:nvSpPr>
        <p:spPr>
          <a:xfrm>
            <a:off x="548640" y="1581912"/>
            <a:ext cx="2103120" cy="457200"/>
          </a:xfrm>
          <a:prstGeom prst="rect">
            <a:avLst/>
          </a:prstGeom>
          <a:noFill/>
          <a:ln/>
        </p:spPr>
        <p:txBody>
          <a:bodyPr wrap="square" lIns="0" tIns="0" rIns="0" bIns="0" rtlCol="0" anchor="ctr"/>
          <a:lstStyle/>
          <a:p>
            <a:pPr indent="0" marL="0">
              <a:buNone/>
            </a:pPr>
            <a:r>
              <a:rPr lang="en-US" sz="1400" b="1" dirty="0">
                <a:solidFill>
                  <a:srgbClr val="12262B"/>
                </a:solidFill>
                <a:latin typeface="Trebuchet MS" pitchFamily="34" charset="0"/>
                <a:ea typeface="Trebuchet MS" pitchFamily="34" charset="-122"/>
                <a:cs typeface="Trebuchet MS" pitchFamily="34" charset="-120"/>
              </a:rPr>
              <a:t>Source notes</a:t>
            </a:r>
            <a:endParaRPr lang="en-US" sz="1400" dirty="0"/>
          </a:p>
        </p:txBody>
      </p:sp>
      <p:sp>
        <p:nvSpPr>
          <p:cNvPr id="5" name="Shape 3"/>
          <p:cNvSpPr/>
          <p:nvPr/>
        </p:nvSpPr>
        <p:spPr>
          <a:xfrm>
            <a:off x="2743200" y="1645920"/>
            <a:ext cx="4297680" cy="365760"/>
          </a:xfrm>
          <a:prstGeom prst="roundRect">
            <a:avLst>
              <a:gd name="adj" fmla="val 10000"/>
            </a:avLst>
          </a:prstGeom>
          <a:solidFill>
            <a:srgbClr val="E4EEEF"/>
          </a:solidFill>
          <a:ln/>
        </p:spPr>
      </p:sp>
      <p:sp>
        <p:nvSpPr>
          <p:cNvPr id="6" name="Shape 4"/>
          <p:cNvSpPr/>
          <p:nvPr/>
        </p:nvSpPr>
        <p:spPr>
          <a:xfrm>
            <a:off x="2743200" y="1645920"/>
            <a:ext cx="3939540" cy="365760"/>
          </a:xfrm>
          <a:prstGeom prst="roundRect">
            <a:avLst>
              <a:gd name="adj" fmla="val 10000"/>
            </a:avLst>
          </a:prstGeom>
          <a:solidFill>
            <a:srgbClr val="5B7B82"/>
          </a:solidFill>
          <a:ln/>
        </p:spPr>
      </p:sp>
      <p:sp>
        <p:nvSpPr>
          <p:cNvPr id="7" name="Text 5"/>
          <p:cNvSpPr/>
          <p:nvPr/>
        </p:nvSpPr>
        <p:spPr>
          <a:xfrm>
            <a:off x="6774180" y="1618488"/>
            <a:ext cx="1005840" cy="420624"/>
          </a:xfrm>
          <a:prstGeom prst="rect">
            <a:avLst/>
          </a:prstGeom>
          <a:noFill/>
          <a:ln/>
        </p:spPr>
        <p:txBody>
          <a:bodyPr wrap="square" lIns="0" tIns="0" rIns="0" bIns="0" rtlCol="0" anchor="ctr"/>
          <a:lstStyle/>
          <a:p>
            <a:pPr indent="0" marL="0">
              <a:buNone/>
            </a:pPr>
            <a:r>
              <a:rPr lang="en-US" sz="1250" b="1" dirty="0">
                <a:solidFill>
                  <a:srgbClr val="12262B"/>
                </a:solidFill>
                <a:latin typeface="Calibri" pitchFamily="34" charset="0"/>
                <a:ea typeface="Calibri" pitchFamily="34" charset="-122"/>
                <a:cs typeface="Calibri" pitchFamily="34" charset="-120"/>
              </a:rPr>
              <a:t>275 tok</a:t>
            </a:r>
            <a:endParaRPr lang="en-US" sz="1250" dirty="0"/>
          </a:p>
        </p:txBody>
      </p:sp>
      <p:sp>
        <p:nvSpPr>
          <p:cNvPr id="8" name="Text 6"/>
          <p:cNvSpPr/>
          <p:nvPr/>
        </p:nvSpPr>
        <p:spPr>
          <a:xfrm>
            <a:off x="548640" y="2450592"/>
            <a:ext cx="2103120" cy="457200"/>
          </a:xfrm>
          <a:prstGeom prst="rect">
            <a:avLst/>
          </a:prstGeom>
          <a:noFill/>
          <a:ln/>
        </p:spPr>
        <p:txBody>
          <a:bodyPr wrap="square" lIns="0" tIns="0" rIns="0" bIns="0" rtlCol="0" anchor="ctr"/>
          <a:lstStyle/>
          <a:p>
            <a:pPr indent="0" marL="0">
              <a:buNone/>
            </a:pPr>
            <a:r>
              <a:rPr lang="en-US" sz="1400" b="1" dirty="0">
                <a:solidFill>
                  <a:srgbClr val="12262B"/>
                </a:solidFill>
                <a:latin typeface="Trebuchet MS" pitchFamily="34" charset="0"/>
                <a:ea typeface="Trebuchet MS" pitchFamily="34" charset="-122"/>
                <a:cs typeface="Trebuchet MS" pitchFamily="34" charset="-120"/>
              </a:rPr>
              <a:t>Caveman output</a:t>
            </a:r>
            <a:endParaRPr lang="en-US" sz="1400" dirty="0"/>
          </a:p>
        </p:txBody>
      </p:sp>
      <p:sp>
        <p:nvSpPr>
          <p:cNvPr id="9" name="Shape 7"/>
          <p:cNvSpPr/>
          <p:nvPr/>
        </p:nvSpPr>
        <p:spPr>
          <a:xfrm>
            <a:off x="2743200" y="2514600"/>
            <a:ext cx="4297680" cy="365760"/>
          </a:xfrm>
          <a:prstGeom prst="roundRect">
            <a:avLst>
              <a:gd name="adj" fmla="val 10000"/>
            </a:avLst>
          </a:prstGeom>
          <a:solidFill>
            <a:srgbClr val="E4EEEF"/>
          </a:solidFill>
          <a:ln/>
        </p:spPr>
      </p:sp>
      <p:sp>
        <p:nvSpPr>
          <p:cNvPr id="10" name="Shape 8"/>
          <p:cNvSpPr/>
          <p:nvPr/>
        </p:nvSpPr>
        <p:spPr>
          <a:xfrm>
            <a:off x="2743200" y="2514600"/>
            <a:ext cx="4082796" cy="365760"/>
          </a:xfrm>
          <a:prstGeom prst="roundRect">
            <a:avLst>
              <a:gd name="adj" fmla="val 10000"/>
            </a:avLst>
          </a:prstGeom>
          <a:solidFill>
            <a:srgbClr val="C0603A"/>
          </a:solidFill>
          <a:ln/>
        </p:spPr>
      </p:sp>
      <p:sp>
        <p:nvSpPr>
          <p:cNvPr id="11" name="Text 9"/>
          <p:cNvSpPr/>
          <p:nvPr/>
        </p:nvSpPr>
        <p:spPr>
          <a:xfrm>
            <a:off x="6917436" y="2487168"/>
            <a:ext cx="1005840" cy="420624"/>
          </a:xfrm>
          <a:prstGeom prst="rect">
            <a:avLst/>
          </a:prstGeom>
          <a:noFill/>
          <a:ln/>
        </p:spPr>
        <p:txBody>
          <a:bodyPr wrap="square" lIns="0" tIns="0" rIns="0" bIns="0" rtlCol="0" anchor="ctr"/>
          <a:lstStyle/>
          <a:p>
            <a:pPr indent="0" marL="0">
              <a:buNone/>
            </a:pPr>
            <a:r>
              <a:rPr lang="en-US" sz="1250" b="1" dirty="0">
                <a:solidFill>
                  <a:srgbClr val="12262B"/>
                </a:solidFill>
                <a:latin typeface="Calibri" pitchFamily="34" charset="0"/>
                <a:ea typeface="Calibri" pitchFamily="34" charset="-122"/>
                <a:cs typeface="Calibri" pitchFamily="34" charset="-120"/>
              </a:rPr>
              <a:t>285 tok</a:t>
            </a:r>
            <a:endParaRPr lang="en-US" sz="1250" dirty="0"/>
          </a:p>
        </p:txBody>
      </p:sp>
      <p:sp>
        <p:nvSpPr>
          <p:cNvPr id="12" name="Text 10"/>
          <p:cNvSpPr/>
          <p:nvPr/>
        </p:nvSpPr>
        <p:spPr>
          <a:xfrm>
            <a:off x="5486400" y="2176272"/>
            <a:ext cx="1554480" cy="256032"/>
          </a:xfrm>
          <a:prstGeom prst="rect">
            <a:avLst/>
          </a:prstGeom>
          <a:noFill/>
          <a:ln/>
        </p:spPr>
        <p:txBody>
          <a:bodyPr wrap="square" lIns="0" tIns="0" rIns="0" bIns="0" rtlCol="0" anchor="ctr"/>
          <a:lstStyle/>
          <a:p>
            <a:pPr algn="r" indent="0" marL="0">
              <a:buNone/>
            </a:pPr>
            <a:r>
              <a:rPr lang="en-US" sz="1100" b="1" dirty="0">
                <a:solidFill>
                  <a:srgbClr val="C0603A"/>
                </a:solidFill>
                <a:latin typeface="Calibri" pitchFamily="34" charset="0"/>
                <a:ea typeface="Calibri" pitchFamily="34" charset="-122"/>
                <a:cs typeface="Calibri" pitchFamily="34" charset="-120"/>
              </a:rPr>
              <a:t>+3.6% vs source</a:t>
            </a:r>
            <a:endParaRPr lang="en-US" sz="1100" dirty="0"/>
          </a:p>
        </p:txBody>
      </p:sp>
      <p:sp>
        <p:nvSpPr>
          <p:cNvPr id="13" name="Text 11"/>
          <p:cNvSpPr/>
          <p:nvPr/>
        </p:nvSpPr>
        <p:spPr>
          <a:xfrm>
            <a:off x="548640" y="3319272"/>
            <a:ext cx="2103120" cy="457200"/>
          </a:xfrm>
          <a:prstGeom prst="rect">
            <a:avLst/>
          </a:prstGeom>
          <a:noFill/>
          <a:ln/>
        </p:spPr>
        <p:txBody>
          <a:bodyPr wrap="square" lIns="0" tIns="0" rIns="0" bIns="0" rtlCol="0" anchor="ctr"/>
          <a:lstStyle/>
          <a:p>
            <a:pPr indent="0" marL="0">
              <a:buNone/>
            </a:pPr>
            <a:r>
              <a:rPr lang="en-US" sz="1400" b="1" dirty="0">
                <a:solidFill>
                  <a:srgbClr val="12262B"/>
                </a:solidFill>
                <a:latin typeface="Trebuchet MS" pitchFamily="34" charset="0"/>
                <a:ea typeface="Trebuchet MS" pitchFamily="34" charset="-122"/>
                <a:cs typeface="Trebuchet MS" pitchFamily="34" charset="-120"/>
              </a:rPr>
              <a:t>Compaction output</a:t>
            </a:r>
            <a:endParaRPr lang="en-US" sz="1400" dirty="0"/>
          </a:p>
        </p:txBody>
      </p:sp>
      <p:sp>
        <p:nvSpPr>
          <p:cNvPr id="14" name="Shape 12"/>
          <p:cNvSpPr/>
          <p:nvPr/>
        </p:nvSpPr>
        <p:spPr>
          <a:xfrm>
            <a:off x="2743200" y="3383280"/>
            <a:ext cx="4297680" cy="365760"/>
          </a:xfrm>
          <a:prstGeom prst="roundRect">
            <a:avLst>
              <a:gd name="adj" fmla="val 10000"/>
            </a:avLst>
          </a:prstGeom>
          <a:solidFill>
            <a:srgbClr val="E4EEEF"/>
          </a:solidFill>
          <a:ln/>
        </p:spPr>
      </p:sp>
      <p:sp>
        <p:nvSpPr>
          <p:cNvPr id="15" name="Shape 13"/>
          <p:cNvSpPr/>
          <p:nvPr/>
        </p:nvSpPr>
        <p:spPr>
          <a:xfrm>
            <a:off x="2743200" y="3383280"/>
            <a:ext cx="2893771" cy="365760"/>
          </a:xfrm>
          <a:prstGeom prst="roundRect">
            <a:avLst>
              <a:gd name="adj" fmla="val 10000"/>
            </a:avLst>
          </a:prstGeom>
          <a:solidFill>
            <a:srgbClr val="028090"/>
          </a:solidFill>
          <a:ln/>
        </p:spPr>
      </p:sp>
      <p:sp>
        <p:nvSpPr>
          <p:cNvPr id="16" name="Text 14"/>
          <p:cNvSpPr/>
          <p:nvPr/>
        </p:nvSpPr>
        <p:spPr>
          <a:xfrm>
            <a:off x="5728411" y="3355848"/>
            <a:ext cx="1005840" cy="420624"/>
          </a:xfrm>
          <a:prstGeom prst="rect">
            <a:avLst/>
          </a:prstGeom>
          <a:noFill/>
          <a:ln/>
        </p:spPr>
        <p:txBody>
          <a:bodyPr wrap="square" lIns="0" tIns="0" rIns="0" bIns="0" rtlCol="0" anchor="ctr"/>
          <a:lstStyle/>
          <a:p>
            <a:pPr indent="0" marL="0">
              <a:buNone/>
            </a:pPr>
            <a:r>
              <a:rPr lang="en-US" sz="1250" b="1" dirty="0">
                <a:solidFill>
                  <a:srgbClr val="12262B"/>
                </a:solidFill>
                <a:latin typeface="Calibri" pitchFamily="34" charset="0"/>
                <a:ea typeface="Calibri" pitchFamily="34" charset="-122"/>
                <a:cs typeface="Calibri" pitchFamily="34" charset="-120"/>
              </a:rPr>
              <a:t>202 tok</a:t>
            </a:r>
            <a:endParaRPr lang="en-US" sz="1250" dirty="0"/>
          </a:p>
        </p:txBody>
      </p:sp>
      <p:sp>
        <p:nvSpPr>
          <p:cNvPr id="17" name="Text 15"/>
          <p:cNvSpPr/>
          <p:nvPr/>
        </p:nvSpPr>
        <p:spPr>
          <a:xfrm>
            <a:off x="5486400" y="3044952"/>
            <a:ext cx="1554480" cy="256032"/>
          </a:xfrm>
          <a:prstGeom prst="rect">
            <a:avLst/>
          </a:prstGeom>
          <a:noFill/>
          <a:ln/>
        </p:spPr>
        <p:txBody>
          <a:bodyPr wrap="square" lIns="0" tIns="0" rIns="0" bIns="0" rtlCol="0" anchor="ctr"/>
          <a:lstStyle/>
          <a:p>
            <a:pPr algn="r" indent="0" marL="0">
              <a:buNone/>
            </a:pPr>
            <a:r>
              <a:rPr lang="en-US" sz="1100" b="1" dirty="0">
                <a:solidFill>
                  <a:srgbClr val="028090"/>
                </a:solidFill>
                <a:latin typeface="Calibri" pitchFamily="34" charset="0"/>
                <a:ea typeface="Calibri" pitchFamily="34" charset="-122"/>
                <a:cs typeface="Calibri" pitchFamily="34" charset="-120"/>
              </a:rPr>
              <a:t>−26.5% vs source</a:t>
            </a:r>
            <a:endParaRPr lang="en-US" sz="1100" dirty="0"/>
          </a:p>
        </p:txBody>
      </p:sp>
      <p:sp>
        <p:nvSpPr>
          <p:cNvPr id="18" name="Shape 16"/>
          <p:cNvSpPr/>
          <p:nvPr/>
        </p:nvSpPr>
        <p:spPr>
          <a:xfrm>
            <a:off x="548640" y="4114800"/>
            <a:ext cx="8046720" cy="566928"/>
          </a:xfrm>
          <a:prstGeom prst="roundRect">
            <a:avLst>
              <a:gd name="adj" fmla="val 11290"/>
            </a:avLst>
          </a:prstGeom>
          <a:solidFill>
            <a:srgbClr val="E4F1F1"/>
          </a:solidFill>
          <a:ln w="12700">
            <a:solidFill>
              <a:srgbClr val="028090"/>
            </a:solidFill>
            <a:prstDash val="solid"/>
          </a:ln>
        </p:spPr>
      </p:sp>
      <p:sp>
        <p:nvSpPr>
          <p:cNvPr id="19" name="Text 17"/>
          <p:cNvSpPr/>
          <p:nvPr/>
        </p:nvSpPr>
        <p:spPr>
          <a:xfrm>
            <a:off x="777240" y="4114800"/>
            <a:ext cx="7589520" cy="566928"/>
          </a:xfrm>
          <a:prstGeom prst="rect">
            <a:avLst/>
          </a:prstGeom>
          <a:noFill/>
          <a:ln/>
        </p:spPr>
        <p:txBody>
          <a:bodyPr wrap="square" lIns="0" tIns="0" rIns="0" bIns="0" rtlCol="0" anchor="ctr"/>
          <a:lstStyle/>
          <a:p>
            <a:pPr indent="0" marL="0">
              <a:buNone/>
            </a:pPr>
            <a:r>
              <a:rPr lang="en-US" sz="1250" b="1" dirty="0">
                <a:solidFill>
                  <a:srgbClr val="12262B"/>
                </a:solidFill>
                <a:latin typeface="Calibri" pitchFamily="34" charset="0"/>
                <a:ea typeface="Calibri" pitchFamily="34" charset="-122"/>
                <a:cs typeface="Calibri" pitchFamily="34" charset="-120"/>
              </a:rPr>
              <a:t>Same input, same facts. </a:t>
            </a:r>
            <a:pPr indent="0" marL="0">
              <a:buNone/>
            </a:pPr>
            <a:r>
              <a:rPr lang="en-US" sz="1250" dirty="0">
                <a:solidFill>
                  <a:srgbClr val="12262B"/>
                </a:solidFill>
                <a:latin typeface="Calibri" pitchFamily="34" charset="0"/>
                <a:ea typeface="Calibri" pitchFamily="34" charset="-122"/>
                <a:cs typeface="Calibri" pitchFamily="34" charset="-120"/>
              </a:rPr>
              <a:t>Caveman restyles the notes (285 tok, +3.6% (grew)); compaction condenses them (202 tok, −26.5% shorter).</a:t>
            </a:r>
            <a:endParaRPr lang="en-US" sz="1250" dirty="0"/>
          </a:p>
        </p:txBody>
      </p:sp>
      <p:sp>
        <p:nvSpPr>
          <p:cNvPr id="20" name="Text 18"/>
          <p:cNvSpPr/>
          <p:nvPr/>
        </p:nvSpPr>
        <p:spPr>
          <a:xfrm>
            <a:off x="548640" y="4846320"/>
            <a:ext cx="8229600" cy="237744"/>
          </a:xfrm>
          <a:prstGeom prst="rect">
            <a:avLst/>
          </a:prstGeom>
          <a:noFill/>
          <a:ln/>
        </p:spPr>
        <p:txBody>
          <a:bodyPr wrap="square" lIns="0" tIns="0" rIns="0" bIns="0" rtlCol="0" anchor="ctr"/>
          <a:lstStyle/>
          <a:p>
            <a:pPr algn="l" indent="0" marL="0">
              <a:buNone/>
            </a:pPr>
            <a:r>
              <a:rPr lang="en-US" sz="900" i="1" dirty="0">
                <a:solidFill>
                  <a:srgbClr val="5B7B82"/>
                </a:solidFill>
                <a:latin typeface="Calibri" pitchFamily="34" charset="0"/>
                <a:ea typeface="Calibri" pitchFamily="34" charset="-122"/>
                <a:cs typeface="Calibri" pitchFamily="34" charset="-120"/>
              </a:rPr>
              <a:t>Live · Foundry gpt-chat-latest · westus3 · one shared prompt, two instruction sets · input $5 / output $30 per 1M tokens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8"/>
        </a:solidFill>
      </p:bgPr>
    </p:bg>
    <p:spTree>
      <p:nvGrpSpPr>
        <p:cNvPr id="1" name=""/>
        <p:cNvGrpSpPr/>
        <p:nvPr/>
      </p:nvGrpSpPr>
      <p:grpSpPr>
        <a:xfrm>
          <a:off x="0" y="0"/>
          <a:ext cx="0" cy="0"/>
          <a:chOff x="0" y="0"/>
          <a:chExt cx="0" cy="0"/>
        </a:xfrm>
      </p:grpSpPr>
      <p:sp>
        <p:nvSpPr>
          <p:cNvPr id="2" name="Text 0"/>
          <p:cNvSpPr/>
          <p:nvPr/>
        </p:nvSpPr>
        <p:spPr>
          <a:xfrm>
            <a:off x="548640" y="310896"/>
            <a:ext cx="82296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Trebuchet MS" pitchFamily="34" charset="0"/>
                <a:ea typeface="Trebuchet MS" pitchFamily="34" charset="-122"/>
                <a:cs typeface="Trebuchet MS" pitchFamily="34" charset="-120"/>
              </a:rPr>
              <a:t>WHY</a:t>
            </a:r>
            <a:endParaRPr lang="en-US" sz="1200" dirty="0"/>
          </a:p>
        </p:txBody>
      </p:sp>
      <p:sp>
        <p:nvSpPr>
          <p:cNvPr id="3" name="Text 1"/>
          <p:cNvSpPr/>
          <p:nvPr/>
        </p:nvSpPr>
        <p:spPr>
          <a:xfrm>
            <a:off x="548640" y="566928"/>
            <a:ext cx="8229600" cy="548640"/>
          </a:xfrm>
          <a:prstGeom prst="rect">
            <a:avLst/>
          </a:prstGeom>
          <a:noFill/>
          <a:ln/>
        </p:spPr>
        <p:txBody>
          <a:bodyPr wrap="square" lIns="0" tIns="0" rIns="0" bIns="0" rtlCol="0" anchor="ctr"/>
          <a:lstStyle/>
          <a:p>
            <a:pPr indent="0" marL="0">
              <a:buNone/>
            </a:pPr>
            <a:r>
              <a:rPr lang="en-US" sz="2500" b="1" dirty="0">
                <a:solidFill>
                  <a:srgbClr val="12262B"/>
                </a:solidFill>
                <a:latin typeface="Trebuchet MS" pitchFamily="34" charset="0"/>
                <a:ea typeface="Trebuchet MS" pitchFamily="34" charset="-122"/>
                <a:cs typeface="Trebuchet MS" pitchFamily="34" charset="-120"/>
              </a:rPr>
              <a:t>They compress different things</a:t>
            </a:r>
            <a:endParaRPr lang="en-US" sz="2500" dirty="0"/>
          </a:p>
        </p:txBody>
      </p:sp>
      <p:sp>
        <p:nvSpPr>
          <p:cNvPr id="4" name="Shape 2"/>
          <p:cNvSpPr/>
          <p:nvPr/>
        </p:nvSpPr>
        <p:spPr>
          <a:xfrm>
            <a:off x="548640" y="1517904"/>
            <a:ext cx="8046720" cy="1417320"/>
          </a:xfrm>
          <a:prstGeom prst="roundRect">
            <a:avLst>
              <a:gd name="adj" fmla="val 5161"/>
            </a:avLst>
          </a:prstGeom>
          <a:solidFill>
            <a:srgbClr val="FFFFFF"/>
          </a:solidFill>
          <a:ln w="15875">
            <a:solidFill>
              <a:srgbClr val="C0603A"/>
            </a:solidFill>
            <a:prstDash val="solid"/>
          </a:ln>
          <a:effectLst>
            <a:outerShdw sx="100000" sy="100000" kx="0" ky="0" algn="bl" rotWithShape="0" blurRad="88900" dist="38100" dir="8100000">
              <a:srgbClr val="000000">
                <a:alpha val="18000"/>
              </a:srgbClr>
            </a:outerShdw>
          </a:effectLst>
        </p:spPr>
      </p:sp>
      <p:sp>
        <p:nvSpPr>
          <p:cNvPr id="5" name="Shape 3"/>
          <p:cNvSpPr/>
          <p:nvPr/>
        </p:nvSpPr>
        <p:spPr>
          <a:xfrm>
            <a:off x="822960" y="1810512"/>
            <a:ext cx="310896" cy="310896"/>
          </a:xfrm>
          <a:prstGeom prst="ellipse">
            <a:avLst/>
          </a:prstGeom>
          <a:solidFill>
            <a:srgbClr val="C0603A"/>
          </a:solidFill>
          <a:ln/>
        </p:spPr>
      </p:sp>
      <p:sp>
        <p:nvSpPr>
          <p:cNvPr id="6" name="Text 4"/>
          <p:cNvSpPr/>
          <p:nvPr/>
        </p:nvSpPr>
        <p:spPr>
          <a:xfrm>
            <a:off x="822960" y="1810512"/>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7" name="Text 5"/>
          <p:cNvSpPr/>
          <p:nvPr/>
        </p:nvSpPr>
        <p:spPr>
          <a:xfrm>
            <a:off x="1298448" y="1719072"/>
            <a:ext cx="7040880" cy="384048"/>
          </a:xfrm>
          <a:prstGeom prst="rect">
            <a:avLst/>
          </a:prstGeom>
          <a:noFill/>
          <a:ln/>
        </p:spPr>
        <p:txBody>
          <a:bodyPr wrap="square" lIns="0" tIns="0" rIns="0" bIns="0" rtlCol="0" anchor="ctr"/>
          <a:lstStyle/>
          <a:p>
            <a:pPr indent="0" marL="0">
              <a:buNone/>
            </a:pPr>
            <a:r>
              <a:rPr lang="en-US" sz="1700" b="1" dirty="0">
                <a:solidFill>
                  <a:srgbClr val="C0603A"/>
                </a:solidFill>
                <a:latin typeface="Trebuchet MS" pitchFamily="34" charset="0"/>
                <a:ea typeface="Trebuchet MS" pitchFamily="34" charset="-122"/>
                <a:cs typeface="Trebuchet MS" pitchFamily="34" charset="-120"/>
              </a:rPr>
              <a:t>Caveman compresses the STYLE</a:t>
            </a:r>
            <a:endParaRPr lang="en-US" sz="1700" dirty="0"/>
          </a:p>
        </p:txBody>
      </p:sp>
      <p:sp>
        <p:nvSpPr>
          <p:cNvPr id="8" name="Text 6"/>
          <p:cNvSpPr/>
          <p:nvPr/>
        </p:nvSpPr>
        <p:spPr>
          <a:xfrm>
            <a:off x="1298448" y="2121408"/>
            <a:ext cx="7086600" cy="685800"/>
          </a:xfrm>
          <a:prstGeom prst="rect">
            <a:avLst/>
          </a:prstGeom>
          <a:noFill/>
          <a:ln/>
        </p:spPr>
        <p:txBody>
          <a:bodyPr wrap="square" lIns="0" tIns="0" rIns="0" bIns="0" rtlCol="0" anchor="t"/>
          <a:lstStyle/>
          <a:p>
            <a:pPr indent="0" marL="0">
              <a:buNone/>
            </a:pPr>
            <a:r>
              <a:rPr lang="en-US" sz="1250" dirty="0">
                <a:solidFill>
                  <a:srgbClr val="12262B"/>
                </a:solidFill>
                <a:latin typeface="Calibri" pitchFamily="34" charset="0"/>
                <a:ea typeface="Calibri" pitchFamily="34" charset="-122"/>
                <a:cs typeface="Calibri" pitchFamily="34" charset="-120"/>
              </a:rPr>
              <a:t>It drops articles and filler and rewrites in telegraphic fragments, but it is told to keep every fact, step, and caveat. On notes that are already dense, there is little style to strip — so the output stays about the same size (285 vs 275 tok). Caveman shines on verbose PROSE answers, not fact lists.</a:t>
            </a:r>
            <a:endParaRPr lang="en-US" sz="1250" dirty="0"/>
          </a:p>
        </p:txBody>
      </p:sp>
      <p:sp>
        <p:nvSpPr>
          <p:cNvPr id="9" name="Shape 7"/>
          <p:cNvSpPr/>
          <p:nvPr/>
        </p:nvSpPr>
        <p:spPr>
          <a:xfrm>
            <a:off x="548640" y="3191256"/>
            <a:ext cx="8046720" cy="1417320"/>
          </a:xfrm>
          <a:prstGeom prst="roundRect">
            <a:avLst>
              <a:gd name="adj" fmla="val 5161"/>
            </a:avLst>
          </a:prstGeom>
          <a:solidFill>
            <a:srgbClr val="FFFFFF"/>
          </a:solidFill>
          <a:ln w="15875">
            <a:solidFill>
              <a:srgbClr val="028090"/>
            </a:solidFill>
            <a:prstDash val="solid"/>
          </a:ln>
          <a:effectLst>
            <a:outerShdw sx="100000" sy="100000" kx="0" ky="0" algn="bl" rotWithShape="0" blurRad="88900" dist="38100" dir="8100000">
              <a:srgbClr val="000000">
                <a:alpha val="18000"/>
              </a:srgbClr>
            </a:outerShdw>
          </a:effectLst>
        </p:spPr>
      </p:sp>
      <p:sp>
        <p:nvSpPr>
          <p:cNvPr id="10" name="Shape 8"/>
          <p:cNvSpPr/>
          <p:nvPr/>
        </p:nvSpPr>
        <p:spPr>
          <a:xfrm>
            <a:off x="822960" y="3483864"/>
            <a:ext cx="310896" cy="310896"/>
          </a:xfrm>
          <a:prstGeom prst="ellipse">
            <a:avLst/>
          </a:prstGeom>
          <a:solidFill>
            <a:srgbClr val="028090"/>
          </a:solidFill>
          <a:ln/>
        </p:spPr>
      </p:sp>
      <p:sp>
        <p:nvSpPr>
          <p:cNvPr id="11" name="Text 9"/>
          <p:cNvSpPr/>
          <p:nvPr/>
        </p:nvSpPr>
        <p:spPr>
          <a:xfrm>
            <a:off x="822960" y="3483864"/>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2" name="Text 10"/>
          <p:cNvSpPr/>
          <p:nvPr/>
        </p:nvSpPr>
        <p:spPr>
          <a:xfrm>
            <a:off x="1298448" y="3392424"/>
            <a:ext cx="7040880" cy="384048"/>
          </a:xfrm>
          <a:prstGeom prst="rect">
            <a:avLst/>
          </a:prstGeom>
          <a:noFill/>
          <a:ln/>
        </p:spPr>
        <p:txBody>
          <a:bodyPr wrap="square" lIns="0" tIns="0" rIns="0" bIns="0" rtlCol="0" anchor="ctr"/>
          <a:lstStyle/>
          <a:p>
            <a:pPr indent="0" marL="0">
              <a:buNone/>
            </a:pPr>
            <a:r>
              <a:rPr lang="en-US" sz="1700" b="1" dirty="0">
                <a:solidFill>
                  <a:srgbClr val="028090"/>
                </a:solidFill>
                <a:latin typeface="Trebuchet MS" pitchFamily="34" charset="0"/>
                <a:ea typeface="Trebuchet MS" pitchFamily="34" charset="-122"/>
                <a:cs typeface="Trebuchet MS" pitchFamily="34" charset="-120"/>
              </a:rPr>
              <a:t>Compaction compresses the CONTENT</a:t>
            </a:r>
            <a:endParaRPr lang="en-US" sz="1700" dirty="0"/>
          </a:p>
        </p:txBody>
      </p:sp>
      <p:sp>
        <p:nvSpPr>
          <p:cNvPr id="13" name="Text 11"/>
          <p:cNvSpPr/>
          <p:nvPr/>
        </p:nvSpPr>
        <p:spPr>
          <a:xfrm>
            <a:off x="1298448" y="3794760"/>
            <a:ext cx="7086600" cy="685800"/>
          </a:xfrm>
          <a:prstGeom prst="rect">
            <a:avLst/>
          </a:prstGeom>
          <a:noFill/>
          <a:ln/>
        </p:spPr>
        <p:txBody>
          <a:bodyPr wrap="square" lIns="0" tIns="0" rIns="0" bIns="0" rtlCol="0" anchor="t"/>
          <a:lstStyle/>
          <a:p>
            <a:pPr indent="0" marL="0">
              <a:buNone/>
            </a:pPr>
            <a:r>
              <a:rPr lang="en-US" sz="1250" dirty="0">
                <a:solidFill>
                  <a:srgbClr val="12262B"/>
                </a:solidFill>
                <a:latin typeface="Calibri" pitchFamily="34" charset="0"/>
                <a:ea typeface="Calibri" pitchFamily="34" charset="-122"/>
                <a:cs typeface="Calibri" pitchFamily="34" charset="-120"/>
              </a:rPr>
              <a:t>It keeps only next-turn essentials — goal, key facts, root cause, agreed fix — and deliberately drops detail. That removes whole clauses, not just words, so the notes actually shrink (202 vs 275 tok, −26.5%) while staying faithful.</a:t>
            </a:r>
            <a:endParaRPr lang="en-US" sz="1250" dirty="0"/>
          </a:p>
        </p:txBody>
      </p:sp>
      <p:sp>
        <p:nvSpPr>
          <p:cNvPr id="14" name="Text 12"/>
          <p:cNvSpPr/>
          <p:nvPr/>
        </p:nvSpPr>
        <p:spPr>
          <a:xfrm>
            <a:off x="548640" y="4846320"/>
            <a:ext cx="8229600" cy="237744"/>
          </a:xfrm>
          <a:prstGeom prst="rect">
            <a:avLst/>
          </a:prstGeom>
          <a:noFill/>
          <a:ln/>
        </p:spPr>
        <p:txBody>
          <a:bodyPr wrap="square" lIns="0" tIns="0" rIns="0" bIns="0" rtlCol="0" anchor="ctr"/>
          <a:lstStyle/>
          <a:p>
            <a:pPr algn="l" indent="0" marL="0">
              <a:buNone/>
            </a:pPr>
            <a:r>
              <a:rPr lang="en-US" sz="900" i="1" dirty="0">
                <a:solidFill>
                  <a:srgbClr val="5B7B82"/>
                </a:solidFill>
                <a:latin typeface="Calibri" pitchFamily="34" charset="0"/>
                <a:ea typeface="Calibri" pitchFamily="34" charset="-122"/>
                <a:cs typeface="Calibri" pitchFamily="34" charset="-120"/>
              </a:rPr>
              <a:t>Live · Foundry gpt-chat-latest · westus3 · one shared prompt, two instruction sets · input $5 / output $30 per 1M tokens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indent="0" marL="0">
              <a:buNone/>
            </a:pPr>
            <a:r>
              <a:rPr lang="en-US" sz="1200" b="1" spc="300" kern="0" dirty="0">
                <a:solidFill>
                  <a:srgbClr val="02C39A"/>
                </a:solidFill>
                <a:latin typeface="Trebuchet MS" pitchFamily="34" charset="0"/>
                <a:ea typeface="Trebuchet MS" pitchFamily="34" charset="-122"/>
                <a:cs typeface="Trebuchet MS" pitchFamily="34" charset="-120"/>
              </a:rPr>
              <a:t>TAKEAWAY</a:t>
            </a:r>
            <a:endParaRPr lang="en-US" sz="1200" dirty="0"/>
          </a:p>
        </p:txBody>
      </p:sp>
      <p:sp>
        <p:nvSpPr>
          <p:cNvPr id="3" name="Text 1"/>
          <p:cNvSpPr/>
          <p:nvPr/>
        </p:nvSpPr>
        <p:spPr>
          <a:xfrm>
            <a:off x="548640" y="777240"/>
            <a:ext cx="8229600" cy="548640"/>
          </a:xfrm>
          <a:prstGeom prst="rect">
            <a:avLst/>
          </a:prstGeom>
          <a:noFill/>
          <a:ln/>
        </p:spPr>
        <p:txBody>
          <a:bodyPr wrap="square" lIns="0" tIns="0" rIns="0" bIns="0" rtlCol="0" anchor="ctr"/>
          <a:lstStyle/>
          <a:p>
            <a:pPr indent="0" marL="0">
              <a:buNone/>
            </a:pPr>
            <a:r>
              <a:rPr lang="en-US" sz="2700" b="1" dirty="0">
                <a:solidFill>
                  <a:srgbClr val="FFFFFF"/>
                </a:solidFill>
                <a:latin typeface="Trebuchet MS" pitchFamily="34" charset="0"/>
                <a:ea typeface="Trebuchet MS" pitchFamily="34" charset="-122"/>
                <a:cs typeface="Trebuchet MS" pitchFamily="34" charset="-120"/>
              </a:rPr>
              <a:t>Same prompt, different jobs</a:t>
            </a:r>
            <a:endParaRPr lang="en-US" sz="2700" dirty="0"/>
          </a:p>
        </p:txBody>
      </p:sp>
      <p:sp>
        <p:nvSpPr>
          <p:cNvPr id="4" name="Shape 2"/>
          <p:cNvSpPr/>
          <p:nvPr/>
        </p:nvSpPr>
        <p:spPr>
          <a:xfrm>
            <a:off x="548640" y="1645920"/>
            <a:ext cx="2615184" cy="2514600"/>
          </a:xfrm>
          <a:prstGeom prst="roundRect">
            <a:avLst>
              <a:gd name="adj" fmla="val 2909"/>
            </a:avLst>
          </a:prstGeom>
          <a:solidFill>
            <a:srgbClr val="0F4D5C"/>
          </a:solidFill>
          <a:ln w="12700">
            <a:solidFill>
              <a:srgbClr val="C0603A"/>
            </a:solidFill>
            <a:prstDash val="solid"/>
          </a:ln>
          <a:effectLst>
            <a:outerShdw sx="100000" sy="100000" kx="0" ky="0" algn="bl" rotWithShape="0" blurRad="88900" dist="38100" dir="8100000">
              <a:srgbClr val="000000">
                <a:alpha val="18000"/>
              </a:srgbClr>
            </a:outerShdw>
          </a:effectLst>
        </p:spPr>
      </p:sp>
      <p:sp>
        <p:nvSpPr>
          <p:cNvPr id="5" name="Shape 3"/>
          <p:cNvSpPr/>
          <p:nvPr/>
        </p:nvSpPr>
        <p:spPr>
          <a:xfrm>
            <a:off x="768096" y="1883664"/>
            <a:ext cx="310896" cy="310896"/>
          </a:xfrm>
          <a:prstGeom prst="ellipse">
            <a:avLst/>
          </a:prstGeom>
          <a:solidFill>
            <a:srgbClr val="C0603A"/>
          </a:solidFill>
          <a:ln/>
        </p:spPr>
      </p:sp>
      <p:sp>
        <p:nvSpPr>
          <p:cNvPr id="6" name="Text 4"/>
          <p:cNvSpPr/>
          <p:nvPr/>
        </p:nvSpPr>
        <p:spPr>
          <a:xfrm>
            <a:off x="768096" y="1883664"/>
            <a:ext cx="310896" cy="310896"/>
          </a:xfrm>
          <a:prstGeom prst="rect">
            <a:avLst/>
          </a:prstGeom>
          <a:noFill/>
          <a:ln/>
        </p:spPr>
        <p:txBody>
          <a:bodyPr wrap="square" lIns="0" tIns="0" rIns="0" bIns="0" rtlCol="0" anchor="ctr"/>
          <a:lstStyle/>
          <a:p>
            <a:pPr algn="ctr" indent="0" marL="0">
              <a:buNone/>
            </a:pPr>
            <a:r>
              <a:rPr lang="en-US" sz="1400" b="1" dirty="0">
                <a:solidFill>
                  <a:srgbClr val="0B3C49"/>
                </a:solidFill>
                <a:latin typeface="Trebuchet MS" pitchFamily="34" charset="0"/>
                <a:ea typeface="Trebuchet MS" pitchFamily="34" charset="-122"/>
                <a:cs typeface="Trebuchet MS" pitchFamily="34" charset="-120"/>
              </a:rPr>
              <a:t>1</a:t>
            </a:r>
            <a:endParaRPr lang="en-US" sz="1400" dirty="0"/>
          </a:p>
        </p:txBody>
      </p:sp>
      <p:sp>
        <p:nvSpPr>
          <p:cNvPr id="7" name="Text 5"/>
          <p:cNvSpPr/>
          <p:nvPr/>
        </p:nvSpPr>
        <p:spPr>
          <a:xfrm>
            <a:off x="1188720" y="1865376"/>
            <a:ext cx="1837944" cy="365760"/>
          </a:xfrm>
          <a:prstGeom prst="rect">
            <a:avLst/>
          </a:prstGeom>
          <a:noFill/>
          <a:ln/>
        </p:spPr>
        <p:txBody>
          <a:bodyPr wrap="square" lIns="0" tIns="0" rIns="0" bIns="0" rtlCol="0" anchor="ctr"/>
          <a:lstStyle/>
          <a:p>
            <a:pPr indent="0" marL="0">
              <a:buNone/>
            </a:pPr>
            <a:r>
              <a:rPr lang="en-US" sz="1550" b="1" dirty="0">
                <a:solidFill>
                  <a:srgbClr val="C0603A"/>
                </a:solidFill>
                <a:latin typeface="Trebuchet MS" pitchFamily="34" charset="0"/>
                <a:ea typeface="Trebuchet MS" pitchFamily="34" charset="-122"/>
                <a:cs typeface="Trebuchet MS" pitchFamily="34" charset="-120"/>
              </a:rPr>
              <a:t>Caveman = style</a:t>
            </a:r>
            <a:endParaRPr lang="en-US" sz="1550" dirty="0"/>
          </a:p>
        </p:txBody>
      </p:sp>
      <p:sp>
        <p:nvSpPr>
          <p:cNvPr id="8" name="Text 6"/>
          <p:cNvSpPr/>
          <p:nvPr/>
        </p:nvSpPr>
        <p:spPr>
          <a:xfrm>
            <a:off x="768096" y="2542032"/>
            <a:ext cx="2176272" cy="1435608"/>
          </a:xfrm>
          <a:prstGeom prst="rect">
            <a:avLst/>
          </a:prstGeom>
          <a:noFill/>
          <a:ln/>
        </p:spPr>
        <p:txBody>
          <a:bodyPr wrap="square" lIns="0" tIns="0" rIns="0" bIns="0" rtlCol="0" anchor="t"/>
          <a:lstStyle/>
          <a:p>
            <a:pPr indent="0" marL="0">
              <a:buNone/>
            </a:pPr>
            <a:r>
              <a:rPr lang="en-US" sz="1250" dirty="0">
                <a:solidFill>
                  <a:srgbClr val="CFE8EA"/>
                </a:solidFill>
                <a:latin typeface="Calibri" pitchFamily="34" charset="0"/>
                <a:ea typeface="Calibri" pitchFamily="34" charset="-122"/>
                <a:cs typeface="Calibri" pitchFamily="34" charset="-120"/>
              </a:rPr>
              <a:t>Telegraphic rewrite, every fact kept. Best for trimming a verbose ANSWER. Here: 285 tok (+3.6% (grew)).</a:t>
            </a:r>
            <a:endParaRPr lang="en-US" sz="1250" dirty="0"/>
          </a:p>
        </p:txBody>
      </p:sp>
      <p:sp>
        <p:nvSpPr>
          <p:cNvPr id="9" name="Shape 7"/>
          <p:cNvSpPr/>
          <p:nvPr/>
        </p:nvSpPr>
        <p:spPr>
          <a:xfrm>
            <a:off x="3419856" y="1645920"/>
            <a:ext cx="2615184" cy="2514600"/>
          </a:xfrm>
          <a:prstGeom prst="roundRect">
            <a:avLst>
              <a:gd name="adj" fmla="val 2909"/>
            </a:avLst>
          </a:prstGeom>
          <a:solidFill>
            <a:srgbClr val="0F4D5C"/>
          </a:solidFill>
          <a:ln w="12700">
            <a:solidFill>
              <a:srgbClr val="028090"/>
            </a:solidFill>
            <a:prstDash val="solid"/>
          </a:ln>
          <a:effectLst>
            <a:outerShdw sx="100000" sy="100000" kx="0" ky="0" algn="bl" rotWithShape="0" blurRad="88900" dist="38100" dir="8100000">
              <a:srgbClr val="000000">
                <a:alpha val="18000"/>
              </a:srgbClr>
            </a:outerShdw>
          </a:effectLst>
        </p:spPr>
      </p:sp>
      <p:sp>
        <p:nvSpPr>
          <p:cNvPr id="10" name="Shape 8"/>
          <p:cNvSpPr/>
          <p:nvPr/>
        </p:nvSpPr>
        <p:spPr>
          <a:xfrm>
            <a:off x="3639312" y="1883664"/>
            <a:ext cx="310896" cy="310896"/>
          </a:xfrm>
          <a:prstGeom prst="ellipse">
            <a:avLst/>
          </a:prstGeom>
          <a:solidFill>
            <a:srgbClr val="028090"/>
          </a:solidFill>
          <a:ln/>
        </p:spPr>
      </p:sp>
      <p:sp>
        <p:nvSpPr>
          <p:cNvPr id="11" name="Text 9"/>
          <p:cNvSpPr/>
          <p:nvPr/>
        </p:nvSpPr>
        <p:spPr>
          <a:xfrm>
            <a:off x="3639312" y="1883664"/>
            <a:ext cx="310896" cy="310896"/>
          </a:xfrm>
          <a:prstGeom prst="rect">
            <a:avLst/>
          </a:prstGeom>
          <a:noFill/>
          <a:ln/>
        </p:spPr>
        <p:txBody>
          <a:bodyPr wrap="square" lIns="0" tIns="0" rIns="0" bIns="0" rtlCol="0" anchor="ctr"/>
          <a:lstStyle/>
          <a:p>
            <a:pPr algn="ctr" indent="0" marL="0">
              <a:buNone/>
            </a:pPr>
            <a:r>
              <a:rPr lang="en-US" sz="1400" b="1" dirty="0">
                <a:solidFill>
                  <a:srgbClr val="0B3C49"/>
                </a:solidFill>
                <a:latin typeface="Trebuchet MS" pitchFamily="34" charset="0"/>
                <a:ea typeface="Trebuchet MS" pitchFamily="34" charset="-122"/>
                <a:cs typeface="Trebuchet MS" pitchFamily="34" charset="-120"/>
              </a:rPr>
              <a:t>2</a:t>
            </a:r>
            <a:endParaRPr lang="en-US" sz="1400" dirty="0"/>
          </a:p>
        </p:txBody>
      </p:sp>
      <p:sp>
        <p:nvSpPr>
          <p:cNvPr id="12" name="Text 10"/>
          <p:cNvSpPr/>
          <p:nvPr/>
        </p:nvSpPr>
        <p:spPr>
          <a:xfrm>
            <a:off x="4059936" y="1865376"/>
            <a:ext cx="1837944" cy="365760"/>
          </a:xfrm>
          <a:prstGeom prst="rect">
            <a:avLst/>
          </a:prstGeom>
          <a:noFill/>
          <a:ln/>
        </p:spPr>
        <p:txBody>
          <a:bodyPr wrap="square" lIns="0" tIns="0" rIns="0" bIns="0" rtlCol="0" anchor="ctr"/>
          <a:lstStyle/>
          <a:p>
            <a:pPr indent="0" marL="0">
              <a:buNone/>
            </a:pPr>
            <a:r>
              <a:rPr lang="en-US" sz="1550" b="1" dirty="0">
                <a:solidFill>
                  <a:srgbClr val="028090"/>
                </a:solidFill>
                <a:latin typeface="Trebuchet MS" pitchFamily="34" charset="0"/>
                <a:ea typeface="Trebuchet MS" pitchFamily="34" charset="-122"/>
                <a:cs typeface="Trebuchet MS" pitchFamily="34" charset="-120"/>
              </a:rPr>
              <a:t>Compaction = content</a:t>
            </a:r>
            <a:endParaRPr lang="en-US" sz="1550" dirty="0"/>
          </a:p>
        </p:txBody>
      </p:sp>
      <p:sp>
        <p:nvSpPr>
          <p:cNvPr id="13" name="Text 11"/>
          <p:cNvSpPr/>
          <p:nvPr/>
        </p:nvSpPr>
        <p:spPr>
          <a:xfrm>
            <a:off x="3639312" y="2542032"/>
            <a:ext cx="2176272" cy="1435608"/>
          </a:xfrm>
          <a:prstGeom prst="rect">
            <a:avLst/>
          </a:prstGeom>
          <a:noFill/>
          <a:ln/>
        </p:spPr>
        <p:txBody>
          <a:bodyPr wrap="square" lIns="0" tIns="0" rIns="0" bIns="0" rtlCol="0" anchor="t"/>
          <a:lstStyle/>
          <a:p>
            <a:pPr indent="0" marL="0">
              <a:buNone/>
            </a:pPr>
            <a:r>
              <a:rPr lang="en-US" sz="1250" dirty="0">
                <a:solidFill>
                  <a:srgbClr val="CFE8EA"/>
                </a:solidFill>
                <a:latin typeface="Calibri" pitchFamily="34" charset="0"/>
                <a:ea typeface="Calibri" pitchFamily="34" charset="-122"/>
                <a:cs typeface="Calibri" pitchFamily="34" charset="-120"/>
              </a:rPr>
              <a:t>Essentials-only durable summary. Best for shrinking CONTEXT you reuse. Here: 202 tok (−26.5%).</a:t>
            </a:r>
            <a:endParaRPr lang="en-US" sz="1250" dirty="0"/>
          </a:p>
        </p:txBody>
      </p:sp>
      <p:sp>
        <p:nvSpPr>
          <p:cNvPr id="14" name="Shape 12"/>
          <p:cNvSpPr/>
          <p:nvPr/>
        </p:nvSpPr>
        <p:spPr>
          <a:xfrm>
            <a:off x="6291072" y="1645920"/>
            <a:ext cx="2615184" cy="2514600"/>
          </a:xfrm>
          <a:prstGeom prst="roundRect">
            <a:avLst>
              <a:gd name="adj" fmla="val 2909"/>
            </a:avLst>
          </a:prstGeom>
          <a:solidFill>
            <a:srgbClr val="0F4D5C"/>
          </a:solidFill>
          <a:ln w="12700">
            <a:solidFill>
              <a:srgbClr val="CFE8EA"/>
            </a:solidFill>
            <a:prstDash val="solid"/>
          </a:ln>
          <a:effectLst>
            <a:outerShdw sx="100000" sy="100000" kx="0" ky="0" algn="bl" rotWithShape="0" blurRad="88900" dist="38100" dir="8100000">
              <a:srgbClr val="000000">
                <a:alpha val="18000"/>
              </a:srgbClr>
            </a:outerShdw>
          </a:effectLst>
        </p:spPr>
      </p:sp>
      <p:sp>
        <p:nvSpPr>
          <p:cNvPr id="15" name="Shape 13"/>
          <p:cNvSpPr/>
          <p:nvPr/>
        </p:nvSpPr>
        <p:spPr>
          <a:xfrm>
            <a:off x="6510528" y="1883664"/>
            <a:ext cx="310896" cy="310896"/>
          </a:xfrm>
          <a:prstGeom prst="ellipse">
            <a:avLst/>
          </a:prstGeom>
          <a:solidFill>
            <a:srgbClr val="CFE8EA"/>
          </a:solidFill>
          <a:ln/>
        </p:spPr>
      </p:sp>
      <p:sp>
        <p:nvSpPr>
          <p:cNvPr id="16" name="Text 14"/>
          <p:cNvSpPr/>
          <p:nvPr/>
        </p:nvSpPr>
        <p:spPr>
          <a:xfrm>
            <a:off x="6510528" y="1883664"/>
            <a:ext cx="310896" cy="310896"/>
          </a:xfrm>
          <a:prstGeom prst="rect">
            <a:avLst/>
          </a:prstGeom>
          <a:noFill/>
          <a:ln/>
        </p:spPr>
        <p:txBody>
          <a:bodyPr wrap="square" lIns="0" tIns="0" rIns="0" bIns="0" rtlCol="0" anchor="ctr"/>
          <a:lstStyle/>
          <a:p>
            <a:pPr algn="ctr" indent="0" marL="0">
              <a:buNone/>
            </a:pPr>
            <a:r>
              <a:rPr lang="en-US" sz="1400" b="1" dirty="0">
                <a:solidFill>
                  <a:srgbClr val="0B3C49"/>
                </a:solidFill>
                <a:latin typeface="Trebuchet MS" pitchFamily="34" charset="0"/>
                <a:ea typeface="Trebuchet MS" pitchFamily="34" charset="-122"/>
                <a:cs typeface="Trebuchet MS" pitchFamily="34" charset="-120"/>
              </a:rPr>
              <a:t>3</a:t>
            </a:r>
            <a:endParaRPr lang="en-US" sz="1400" dirty="0"/>
          </a:p>
        </p:txBody>
      </p:sp>
      <p:sp>
        <p:nvSpPr>
          <p:cNvPr id="17" name="Text 15"/>
          <p:cNvSpPr/>
          <p:nvPr/>
        </p:nvSpPr>
        <p:spPr>
          <a:xfrm>
            <a:off x="6931152" y="1865376"/>
            <a:ext cx="1837944" cy="365760"/>
          </a:xfrm>
          <a:prstGeom prst="rect">
            <a:avLst/>
          </a:prstGeom>
          <a:noFill/>
          <a:ln/>
        </p:spPr>
        <p:txBody>
          <a:bodyPr wrap="square" lIns="0" tIns="0" rIns="0" bIns="0" rtlCol="0" anchor="ctr"/>
          <a:lstStyle/>
          <a:p>
            <a:pPr indent="0" marL="0">
              <a:buNone/>
            </a:pPr>
            <a:r>
              <a:rPr lang="en-US" sz="1550" b="1" dirty="0">
                <a:solidFill>
                  <a:srgbClr val="CFE8EA"/>
                </a:solidFill>
                <a:latin typeface="Trebuchet MS" pitchFamily="34" charset="0"/>
                <a:ea typeface="Trebuchet MS" pitchFamily="34" charset="-122"/>
                <a:cs typeface="Trebuchet MS" pitchFamily="34" charset="-120"/>
              </a:rPr>
              <a:t>Pick by target</a:t>
            </a:r>
            <a:endParaRPr lang="en-US" sz="1550" dirty="0"/>
          </a:p>
        </p:txBody>
      </p:sp>
      <p:sp>
        <p:nvSpPr>
          <p:cNvPr id="18" name="Text 16"/>
          <p:cNvSpPr/>
          <p:nvPr/>
        </p:nvSpPr>
        <p:spPr>
          <a:xfrm>
            <a:off x="6510528" y="2542032"/>
            <a:ext cx="2176272" cy="1435608"/>
          </a:xfrm>
          <a:prstGeom prst="rect">
            <a:avLst/>
          </a:prstGeom>
          <a:noFill/>
          <a:ln/>
        </p:spPr>
        <p:txBody>
          <a:bodyPr wrap="square" lIns="0" tIns="0" rIns="0" bIns="0" rtlCol="0" anchor="t"/>
          <a:lstStyle/>
          <a:p>
            <a:pPr indent="0" marL="0">
              <a:buNone/>
            </a:pPr>
            <a:r>
              <a:rPr lang="en-US" sz="1250" dirty="0">
                <a:solidFill>
                  <a:srgbClr val="CFE8EA"/>
                </a:solidFill>
                <a:latin typeface="Calibri" pitchFamily="34" charset="0"/>
                <a:ea typeface="Calibri" pitchFamily="34" charset="-122"/>
                <a:cs typeface="Calibri" pitchFamily="34" charset="-120"/>
              </a:rPr>
              <a:t>Trimming what you emit now → caveman. Shrinking notes you carry forward → compaction.</a:t>
            </a:r>
            <a:endParaRPr lang="en-US" sz="1250" dirty="0"/>
          </a:p>
        </p:txBody>
      </p:sp>
      <p:sp>
        <p:nvSpPr>
          <p:cNvPr id="19" name="Text 17"/>
          <p:cNvSpPr/>
          <p:nvPr/>
        </p:nvSpPr>
        <p:spPr>
          <a:xfrm>
            <a:off x="548640" y="4846320"/>
            <a:ext cx="8229600" cy="237744"/>
          </a:xfrm>
          <a:prstGeom prst="rect">
            <a:avLst/>
          </a:prstGeom>
          <a:noFill/>
          <a:ln/>
        </p:spPr>
        <p:txBody>
          <a:bodyPr wrap="square" lIns="0" tIns="0" rIns="0" bIns="0" rtlCol="0" anchor="ctr"/>
          <a:lstStyle/>
          <a:p>
            <a:pPr algn="l" indent="0" marL="0">
              <a:buNone/>
            </a:pPr>
            <a:r>
              <a:rPr lang="en-US" sz="900" i="1" dirty="0">
                <a:solidFill>
                  <a:srgbClr val="CFE8EA"/>
                </a:solidFill>
                <a:latin typeface="Calibri" pitchFamily="34" charset="0"/>
                <a:ea typeface="Calibri" pitchFamily="34" charset="-122"/>
                <a:cs typeface="Calibri" pitchFamily="34" charset="-120"/>
              </a:rPr>
              <a:t>Live · Foundry gpt-chat-latest · westus3 · one shared prompt, two instruction sets · input $5 / output $30 per 1M tokens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Same prompt: caveman vs compaction instructions</dc:title>
  <dc:subject>PptxGenJS Presentation</dc:subject>
  <dc:creator>instantmodels</dc:creator>
  <cp:lastModifiedBy>instantmodels</cp:lastModifiedBy>
  <cp:revision>1</cp:revision>
  <dcterms:created xsi:type="dcterms:W3CDTF">2026-07-04T17:31:10Z</dcterms:created>
  <dcterms:modified xsi:type="dcterms:W3CDTF">2026-07-04T17:31:10Z</dcterms:modified>
</cp:coreProperties>
</file>