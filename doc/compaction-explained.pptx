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compaction</c:v>
                </c:pt>
              </c:strCache>
            </c:strRef>
          </c:tx>
          <c:spPr>
            <a:solidFill>
              <a:srgbClr val="C0603A"/>
            </a:solidFill>
            <a:ln w="41275" cap="flat">
              <a:solidFill>
                <a:srgbClr val="C06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603A"/>
              </a:solidFill>
              <a:ln w="9525" cap="flat">
                <a:solidFill>
                  <a:srgbClr val="C06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160</c:v>
                </c:pt>
                <c:pt idx="1">
                  <c:v>320</c:v>
                </c:pt>
                <c:pt idx="2">
                  <c:v>480</c:v>
                </c:pt>
                <c:pt idx="3">
                  <c:v>640</c:v>
                </c:pt>
                <c:pt idx="4">
                  <c:v>800</c:v>
                </c:pt>
                <c:pt idx="5">
                  <c:v>960</c:v>
                </c:pt>
                <c:pt idx="6">
                  <c:v>1120</c:v>
                </c:pt>
                <c:pt idx="7">
                  <c:v>1280</c:v>
                </c:pt>
                <c:pt idx="8">
                  <c:v>1440</c:v>
                </c:pt>
                <c:pt idx="9">
                  <c:v>1600</c:v>
                </c:pt>
                <c:pt idx="10">
                  <c:v>1760</c:v>
                </c:pt>
                <c:pt idx="11">
                  <c:v>1920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compaction</c:v>
                </c:pt>
              </c:strCache>
            </c:strRef>
          </c:tx>
          <c:spPr>
            <a:solidFill>
              <a:srgbClr val="1FA67A"/>
            </a:solidFill>
            <a:ln w="41275" cap="flat">
              <a:solidFill>
                <a:srgbClr val="1FA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A67A"/>
              </a:solidFill>
              <a:ln w="9525" cap="flat">
                <a:solidFill>
                  <a:srgbClr val="1FA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160</c:v>
                </c:pt>
                <c:pt idx="1">
                  <c:v>320</c:v>
                </c:pt>
                <c:pt idx="2">
                  <c:v>480</c:v>
                </c:pt>
                <c:pt idx="3">
                  <c:v>640</c:v>
                </c:pt>
                <c:pt idx="4">
                  <c:v>304</c:v>
                </c:pt>
                <c:pt idx="5">
                  <c:v>464</c:v>
                </c:pt>
                <c:pt idx="6">
                  <c:v>624</c:v>
                </c:pt>
                <c:pt idx="7">
                  <c:v>784</c:v>
                </c:pt>
                <c:pt idx="8">
                  <c:v>359</c:v>
                </c:pt>
                <c:pt idx="9">
                  <c:v>519</c:v>
                </c:pt>
                <c:pt idx="10">
                  <c:v>679</c:v>
                </c:pt>
                <c:pt idx="11">
                  <c:v>319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B8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7B82"/>
                    </a:solidFill>
                    <a:latin typeface="Arial"/>
                  </a:rPr>
                  <a:t>conversation turn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B8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7B82"/>
                    </a:solidFill>
                    <a:latin typeface="Arial"/>
                  </a:rPr>
                  <a:t>context tokens sent per turn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226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0"/>
            <a:ext cx="1799539" cy="45720"/>
          </a:xfrm>
          <a:prstGeom prst="roundRect">
            <a:avLst>
              <a:gd name="adj" fmla="val 40000"/>
            </a:avLst>
          </a:prstGeom>
          <a:solidFill>
            <a:srgbClr val="CFE8E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183380"/>
            <a:ext cx="2095805" cy="45720"/>
          </a:xfrm>
          <a:prstGeom prst="roundRect">
            <a:avLst>
              <a:gd name="adj" fmla="val 40000"/>
            </a:avLst>
          </a:prstGeom>
          <a:solidFill>
            <a:srgbClr val="CFE8E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251960"/>
            <a:ext cx="1997050" cy="45720"/>
          </a:xfrm>
          <a:prstGeom prst="roundRect">
            <a:avLst>
              <a:gd name="adj" fmla="val 40000"/>
            </a:avLst>
          </a:prstGeom>
          <a:solidFill>
            <a:srgbClr val="CFE8EA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4320540"/>
            <a:ext cx="1898294" cy="45720"/>
          </a:xfrm>
          <a:prstGeom prst="roundRect">
            <a:avLst>
              <a:gd name="adj" fmla="val 40000"/>
            </a:avLst>
          </a:prstGeom>
          <a:solidFill>
            <a:srgbClr val="CFE8E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4389120"/>
            <a:ext cx="1799539" cy="45720"/>
          </a:xfrm>
          <a:prstGeom prst="roundRect">
            <a:avLst>
              <a:gd name="adj" fmla="val 40000"/>
            </a:avLst>
          </a:prstGeom>
          <a:solidFill>
            <a:srgbClr val="CFE8EA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4457700"/>
            <a:ext cx="2095805" cy="45720"/>
          </a:xfrm>
          <a:prstGeom prst="roundRect">
            <a:avLst>
              <a:gd name="adj" fmla="val 40000"/>
            </a:avLst>
          </a:prstGeom>
          <a:solidFill>
            <a:srgbClr val="CFE8EA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4526280"/>
            <a:ext cx="1997050" cy="45720"/>
          </a:xfrm>
          <a:prstGeom prst="roundRect">
            <a:avLst>
              <a:gd name="adj" fmla="val 40000"/>
            </a:avLst>
          </a:prstGeom>
          <a:solidFill>
            <a:srgbClr val="CFE8EA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4594860"/>
            <a:ext cx="1207008" cy="45720"/>
          </a:xfrm>
          <a:prstGeom prst="roundRect">
            <a:avLst>
              <a:gd name="adj" fmla="val 40000"/>
            </a:avLst>
          </a:prstGeom>
          <a:solidFill>
            <a:srgbClr val="CFE8EA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4261104"/>
            <a:ext cx="457200" cy="384048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4334256"/>
            <a:ext cx="1049731" cy="45720"/>
          </a:xfrm>
          <a:prstGeom prst="roundRect">
            <a:avLst>
              <a:gd name="adj" fmla="val 40000"/>
            </a:avLst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4411980"/>
            <a:ext cx="1222553" cy="45720"/>
          </a:xfrm>
          <a:prstGeom prst="roundRect">
            <a:avLst>
              <a:gd name="adj" fmla="val 40000"/>
            </a:avLst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4489704"/>
            <a:ext cx="704088" cy="45720"/>
          </a:xfrm>
          <a:prstGeom prst="roundRect">
            <a:avLst>
              <a:gd name="adj" fmla="val 4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Compaction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59436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Shrink a big context into a small, durable one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94360" y="2615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long working notes into a compact summary that carries the same meaning — then reuse it every turn. Live: 795 → 302 tokens, −62%.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call: long context in, small context 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9050">
            <a:solidFill>
              <a:srgbClr val="5B7B8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09344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— long working notes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04672" y="2066544"/>
            <a:ext cx="2316907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203704"/>
            <a:ext cx="2698349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340864"/>
            <a:ext cx="2571201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478024"/>
            <a:ext cx="2444054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615184"/>
            <a:ext cx="2316907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2752344"/>
            <a:ext cx="2698349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2889504"/>
            <a:ext cx="2571201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026664"/>
            <a:ext cx="2444054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163824"/>
            <a:ext cx="2316907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300984"/>
            <a:ext cx="2698349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3438144"/>
            <a:ext cx="2571201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3575304"/>
            <a:ext cx="2444054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3712464"/>
            <a:ext cx="1554023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" y="3739896"/>
            <a:ext cx="2825496" cy="457200"/>
          </a:xfrm>
          <a:prstGeom prst="roundRect">
            <a:avLst>
              <a:gd name="adj" fmla="val 12000"/>
            </a:avLst>
          </a:prstGeom>
          <a:solidFill>
            <a:srgbClr val="5B7B82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739896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795 tokens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57800" y="146304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9050">
            <a:solidFill>
              <a:srgbClr val="1FA67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13832" y="1609344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A6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— durable summary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513832" y="2066544"/>
            <a:ext cx="2316907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13832" y="2203704"/>
            <a:ext cx="2698349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513832" y="2340864"/>
            <a:ext cx="2571201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13832" y="2478024"/>
            <a:ext cx="2444054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13832" y="2615184"/>
            <a:ext cx="1554023" cy="105156"/>
          </a:xfrm>
          <a:prstGeom prst="roundRect">
            <a:avLst>
              <a:gd name="adj" fmla="val 17391"/>
            </a:avLst>
          </a:prstGeom>
          <a:solidFill>
            <a:srgbClr val="5B7B82">
              <a:alpha val="5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13832" y="3739896"/>
            <a:ext cx="2825496" cy="457200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/>
        </p:spPr>
      </p:sp>
      <p:sp>
        <p:nvSpPr>
          <p:cNvPr id="29" name="Text 27"/>
          <p:cNvSpPr/>
          <p:nvPr/>
        </p:nvSpPr>
        <p:spPr>
          <a:xfrm>
            <a:off x="5513832" y="3739896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302 tokens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14800" y="2148840"/>
            <a:ext cx="868680" cy="777240"/>
          </a:xfrm>
          <a:prstGeom prst="chevron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977640" y="23408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COMPACT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913632" y="30540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−62%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48640" y="45171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meaning preserved</a:t>
            </a:r>
            <a:pPr algn="l" indent="0" marL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goal, key facts, decisions, and open task kept; per-turn recaps and dead ends dropped. 493 fewer tokens, reused every future turn.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4846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Foundry gpt-chat-latest · westus3 · input $5 / output $30 per 1M tokens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stays small instead of growing every turn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projection · the −62% summary size is measured live (795 → 302 tok)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417320"/>
          <a:ext cx="56235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481328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C0603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481328"/>
            <a:ext cx="91440" cy="1371600"/>
          </a:xfrm>
          <a:prstGeom prst="rect">
            <a:avLst/>
          </a:prstGeom>
          <a:solidFill>
            <a:srgbClr val="C0603A"/>
          </a:solidFill>
          <a:ln/>
        </p:spPr>
      </p:sp>
      <p:sp>
        <p:nvSpPr>
          <p:cNvPr id="8" name="Text 5"/>
          <p:cNvSpPr/>
          <p:nvPr/>
        </p:nvSpPr>
        <p:spPr>
          <a:xfrm>
            <a:off x="6620256" y="1627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20256" y="1993392"/>
            <a:ext cx="1810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re-sent whole every turn → 1,920 tok by turn 12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2999232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FA67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999232"/>
            <a:ext cx="91440" cy="1371600"/>
          </a:xfrm>
          <a:prstGeom prst="rect">
            <a:avLst/>
          </a:prstGeom>
          <a:solidFill>
            <a:srgbClr val="1FA67A"/>
          </a:solidFill>
          <a:ln/>
        </p:spPr>
      </p:sp>
      <p:sp>
        <p:nvSpPr>
          <p:cNvPr id="12" name="Text 9"/>
          <p:cNvSpPr/>
          <p:nvPr/>
        </p:nvSpPr>
        <p:spPr>
          <a:xfrm>
            <a:off x="6620256" y="31455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6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20256" y="3511296"/>
            <a:ext cx="1810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resets the context near 795 tok → never climbs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846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Foundry gpt-chat-latest · westus3 · input $5 / output $30 per 1M tokens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Compact the context, keep the meaning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15184" cy="2514600"/>
          </a:xfrm>
          <a:prstGeom prst="roundRect">
            <a:avLst>
              <a:gd name="adj" fmla="val 2909"/>
            </a:avLst>
          </a:prstGeom>
          <a:solidFill>
            <a:srgbClr val="0F4D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8366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65376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542032"/>
            <a:ext cx="21762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call rewrites long notes into a short durable summary. Live: 795 → 302 tok (−62%).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9856" y="1645920"/>
            <a:ext cx="2615184" cy="2514600"/>
          </a:xfrm>
          <a:prstGeom prst="roundRect">
            <a:avLst>
              <a:gd name="adj" fmla="val 2909"/>
            </a:avLst>
          </a:prstGeom>
          <a:solidFill>
            <a:srgbClr val="0F4D5C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88366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59936" y="1865376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2542032"/>
            <a:ext cx="21762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a long agent conversation or working log keeps growing and you carry it across turns.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91072" y="1645920"/>
            <a:ext cx="2615184" cy="2514600"/>
          </a:xfrm>
          <a:prstGeom prst="roundRect">
            <a:avLst>
              <a:gd name="adj" fmla="val 2909"/>
            </a:avLst>
          </a:prstGeom>
          <a:solidFill>
            <a:srgbClr val="0F4D5C"/>
          </a:solidFill>
          <a:ln w="12700">
            <a:solidFill>
              <a:srgbClr val="CFE8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1883664"/>
            <a:ext cx="310896" cy="310896"/>
          </a:xfrm>
          <a:prstGeom prst="ellipse">
            <a:avLst/>
          </a:prstGeom>
          <a:solidFill>
            <a:srgbClr val="CFE8EA"/>
          </a:solidFill>
          <a:ln/>
        </p:spPr>
      </p:sp>
      <p:sp>
        <p:nvSpPr>
          <p:cNvPr id="16" name="Text 14"/>
          <p:cNvSpPr/>
          <p:nvPr/>
        </p:nvSpPr>
        <p:spPr>
          <a:xfrm>
            <a:off x="6510528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1152" y="1865376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8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Payoff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0528" y="2542032"/>
            <a:ext cx="21762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493 fewer input tokens on every future turn, and context stays bounded instead of climbing.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Foundry gpt-chat-latest · westus3 · input $5 / output $30 per 1M tokens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compaction does</dc:title>
  <dc:subject>PptxGenJS Presentation</dc:subject>
  <dc:creator>instantmodels</dc:creator>
  <cp:lastModifiedBy>instantmodels</cp:lastModifiedBy>
  <cp:revision>1</cp:revision>
  <dcterms:created xsi:type="dcterms:W3CDTF">2026-07-04T17:18:24Z</dcterms:created>
  <dcterms:modified xsi:type="dcterms:W3CDTF">2026-07-04T17:18:24Z</dcterms:modified>
</cp:coreProperties>
</file>